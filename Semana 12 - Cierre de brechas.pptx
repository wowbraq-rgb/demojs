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0f0a894bc54717" /><Relationship Type="http://schemas.openxmlformats.org/officeDocument/2006/relationships/extended-properties" Target="/docProps/app.xml" Id="R6c4a22f15f434c89" /><Relationship Type="http://schemas.openxmlformats.org/officeDocument/2006/relationships/officeDocument" Target="/ppt/presentation.xml" Id="Rfee559a8e39b45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018857436144ab"/>
  </p:sldMasterIdLst>
  <p:notesMasterIdLst>
    <p:notesMasterId xmlns:r="http://schemas.openxmlformats.org/officeDocument/2006/relationships" r:id="R462570a0b98d481a"/>
  </p:notesMasterIdLst>
  <p:sldIdLst>
    <p:sldId xmlns:r="http://schemas.openxmlformats.org/officeDocument/2006/relationships" id="256" r:id="R9549346ca2bb4b77"/>
    <p:sldId xmlns:r="http://schemas.openxmlformats.org/officeDocument/2006/relationships" id="257" r:id="R34ffb96e58b543b8"/>
    <p:sldId xmlns:r="http://schemas.openxmlformats.org/officeDocument/2006/relationships" id="258" r:id="R21fcae46f36b41e9"/>
    <p:sldId xmlns:r="http://schemas.openxmlformats.org/officeDocument/2006/relationships" id="259" r:id="R3115cb33bf074d55"/>
    <p:sldId xmlns:r="http://schemas.openxmlformats.org/officeDocument/2006/relationships" id="260" r:id="R20cce5f39b064cbf"/>
    <p:sldId xmlns:r="http://schemas.openxmlformats.org/officeDocument/2006/relationships" id="261" r:id="R4c6bb75c346d4d5e"/>
    <p:sldId xmlns:r="http://schemas.openxmlformats.org/officeDocument/2006/relationships" id="262" r:id="R923024cfeaa74487"/>
    <p:sldId xmlns:r="http://schemas.openxmlformats.org/officeDocument/2006/relationships" id="263" r:id="R79aee328707e4cbe"/>
    <p:sldId xmlns:r="http://schemas.openxmlformats.org/officeDocument/2006/relationships" id="264" r:id="R79b676fa75634ac8"/>
    <p:sldId xmlns:r="http://schemas.openxmlformats.org/officeDocument/2006/relationships" id="265" r:id="R7c6c0c01d6d548cb"/>
    <p:sldId xmlns:r="http://schemas.openxmlformats.org/officeDocument/2006/relationships" id="266" r:id="Reb3f80e01ef64ce1"/>
    <p:sldId xmlns:r="http://schemas.openxmlformats.org/officeDocument/2006/relationships" id="267" r:id="Re853af3fbd9f4404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cda775660c477c" /><Relationship Type="http://schemas.openxmlformats.org/officeDocument/2006/relationships/slideMaster" Target="/ppt/slideMasters/slideMaster1.xml" Id="R7c018857436144ab" /><Relationship Type="http://schemas.openxmlformats.org/officeDocument/2006/relationships/notesMaster" Target="/ppt/notesMasters/notesMaster1.xml" Id="R462570a0b98d481a" /><Relationship Type="http://schemas.openxmlformats.org/officeDocument/2006/relationships/presProps" Target="/ppt/presProps.xml" Id="R21cd3a46cd6e49b9" /><Relationship Type="http://schemas.openxmlformats.org/officeDocument/2006/relationships/tableStyles" Target="/ppt/tableStyles.xml" Id="R84a04924a606450a" /><Relationship Type="http://schemas.openxmlformats.org/officeDocument/2006/relationships/slide" Target="/ppt/slides/slide1.xml" Id="R9549346ca2bb4b77" /><Relationship Type="http://schemas.openxmlformats.org/officeDocument/2006/relationships/slide" Target="/ppt/slides/slide2.xml" Id="R34ffb96e58b543b8" /><Relationship Type="http://schemas.openxmlformats.org/officeDocument/2006/relationships/slide" Target="/ppt/slides/slide3.xml" Id="R21fcae46f36b41e9" /><Relationship Type="http://schemas.openxmlformats.org/officeDocument/2006/relationships/slide" Target="/ppt/slides/slide4.xml" Id="R3115cb33bf074d55" /><Relationship Type="http://schemas.openxmlformats.org/officeDocument/2006/relationships/slide" Target="/ppt/slides/slide5.xml" Id="R20cce5f39b064cbf" /><Relationship Type="http://schemas.openxmlformats.org/officeDocument/2006/relationships/slide" Target="/ppt/slides/slide6.xml" Id="R4c6bb75c346d4d5e" /><Relationship Type="http://schemas.openxmlformats.org/officeDocument/2006/relationships/slide" Target="/ppt/slides/slide7.xml" Id="R923024cfeaa74487" /><Relationship Type="http://schemas.openxmlformats.org/officeDocument/2006/relationships/slide" Target="/ppt/slides/slide8.xml" Id="R79aee328707e4cbe" /><Relationship Type="http://schemas.openxmlformats.org/officeDocument/2006/relationships/slide" Target="/ppt/slides/slide9.xml" Id="R79b676fa75634ac8" /><Relationship Type="http://schemas.openxmlformats.org/officeDocument/2006/relationships/slide" Target="/ppt/slides/slide10.xml" Id="R7c6c0c01d6d548cb" /><Relationship Type="http://schemas.openxmlformats.org/officeDocument/2006/relationships/slide" Target="/ppt/slides/slide11.xml" Id="Reb3f80e01ef64ce1" /><Relationship Type="http://schemas.openxmlformats.org/officeDocument/2006/relationships/slide" Target="/ppt/slides/slide12.xml" Id="Re853af3fbd9f44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b30422b2d546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8527ff2b364da5" /><Relationship Type="http://schemas.openxmlformats.org/officeDocument/2006/relationships/notesMaster" Target="/ppt/notesMasters/notesMaster1.xml" Id="Re2e76d22dd2e4f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9cb99126174150" /><Relationship Type="http://schemas.openxmlformats.org/officeDocument/2006/relationships/notesMaster" Target="/ppt/notesMasters/notesMaster1.xml" Id="Rd9bea7704d6a43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99f34358dc4ecb" /><Relationship Type="http://schemas.openxmlformats.org/officeDocument/2006/relationships/notesMaster" Target="/ppt/notesMasters/notesMaster1.xml" Id="Rc882ed3d78a241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c038d452f34ae7" /><Relationship Type="http://schemas.openxmlformats.org/officeDocument/2006/relationships/notesMaster" Target="/ppt/notesMasters/notesMaster1.xml" Id="R22935ddca43544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54042431bb45a0" /><Relationship Type="http://schemas.openxmlformats.org/officeDocument/2006/relationships/notesMaster" Target="/ppt/notesMasters/notesMaster1.xml" Id="R3be923fdd6fa46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a9d064d3774f98" /><Relationship Type="http://schemas.openxmlformats.org/officeDocument/2006/relationships/notesMaster" Target="/ppt/notesMasters/notesMaster1.xml" Id="R5b6c47c6f4eb4c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0d6e057ccb42c3" /><Relationship Type="http://schemas.openxmlformats.org/officeDocument/2006/relationships/notesMaster" Target="/ppt/notesMasters/notesMaster1.xml" Id="Re1a78e7b36ed48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85cc6f294249f1" /><Relationship Type="http://schemas.openxmlformats.org/officeDocument/2006/relationships/notesMaster" Target="/ppt/notesMasters/notesMaster1.xml" Id="Rdff390784d1947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e2b3ba6ce84d44" /><Relationship Type="http://schemas.openxmlformats.org/officeDocument/2006/relationships/notesMaster" Target="/ppt/notesMasters/notesMaster1.xml" Id="R77f8bcd5e5cc40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1f3782067c4ae6" /><Relationship Type="http://schemas.openxmlformats.org/officeDocument/2006/relationships/notesMaster" Target="/ppt/notesMasters/notesMaster1.xml" Id="R31e1b1f2b3a241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e45771aa6c463b" /><Relationship Type="http://schemas.openxmlformats.org/officeDocument/2006/relationships/notesMaster" Target="/ppt/notesMasters/notesMaster1.xml" Id="R5c68fc0b37204d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07ad69316341ba" /><Relationship Type="http://schemas.openxmlformats.org/officeDocument/2006/relationships/notesMaster" Target="/ppt/notesMasters/notesMaster1.xml" Id="Rfdea5e926d0d4d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C:/Users/alberto/Documents/mods/Guia_Semana12_Dia_de_cierre_de_brechas.pdf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C:/Users/alberto/Documents/mods/Guia_Semana12_Dia_de_cierre_de_brechas.pdf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C:/Users/alberto/Documents/mods/Guia_Semana12_Dia_de_cierre_de_brechas.pdf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C:/Users/alberto/Documents/mods/Guia_Semana12_Dia_de_cierre_de_brechas.pdf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C:/Users/alberto/Documents/mods/Guia_Semana12_Dia_de_cierre_de_brechas.pdf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C:/Users/alberto/Documents/mods/Guia_Semana12_Dia_de_cierre_de_brechas.pdf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C:/Users/alberto/Documents/mods/Guia_Semana12_Dia_de_cierre_de_brechas.pdf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C:/Users/alberto/Documents/mods/Guia_Semana12_Dia_de_cierre_de_brechas.pdf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C:/Users/alberto/Documents/mods/Guia_Semana12_Dia_de_cierre_de_brechas.pdf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C:/Users/alberto/Documents/mods/Guia_Semana12_Dia_de_cierre_de_brechas.pdf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C:/Users/alberto/Documents/mods/Guia_Semana12_Dia_de_cierre_de_brechas.pdf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C:/Users/alberto/Documents/mods/Guia_Semana12_Dia_de_cierre_de_brechas.pdf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657c9481ee4b19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c35d0405864894" /><Relationship Type="http://schemas.openxmlformats.org/officeDocument/2006/relationships/slideLayout" Target="/ppt/slideLayouts/slideLayout1.xml" Id="Rc9c55c413fbf4b1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c55c413fbf4b10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290dcb04e4a95" /><Relationship Type="http://schemas.openxmlformats.org/officeDocument/2006/relationships/image" Target="/ppt/media/image.png" Id="R2c93b17b60e74948" /><Relationship Type="http://schemas.openxmlformats.org/officeDocument/2006/relationships/notesSlide" Target="/ppt/notesSlides/notesSlide1.xml" Id="Rc62703aa53b243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899bb59684bf4" /><Relationship Type="http://schemas.openxmlformats.org/officeDocument/2006/relationships/notesSlide" Target="/ppt/notesSlides/notesSlide2.xml" Id="R918d1c25a74d4e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3639598024542" /><Relationship Type="http://schemas.openxmlformats.org/officeDocument/2006/relationships/notesSlide" Target="/ppt/notesSlides/notesSlide3.xml" Id="R00f204aa6cd84b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c341239bf41c6" /><Relationship Type="http://schemas.openxmlformats.org/officeDocument/2006/relationships/notesSlide" Target="/ppt/notesSlides/notesSlide4.xml" Id="Ra4baa8e0c80241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d8387260f45bf" /><Relationship Type="http://schemas.openxmlformats.org/officeDocument/2006/relationships/notesSlide" Target="/ppt/notesSlides/notesSlide5.xml" Id="R07a9ff25e4f841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cf19aee094545" /><Relationship Type="http://schemas.openxmlformats.org/officeDocument/2006/relationships/notesSlide" Target="/ppt/notesSlides/notesSlide6.xml" Id="Rc076438684f047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b6413bd6743e5" /><Relationship Type="http://schemas.openxmlformats.org/officeDocument/2006/relationships/notesSlide" Target="/ppt/notesSlides/notesSlide7.xml" Id="R2cbac7862d7e4c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5324ade1d48ca" /><Relationship Type="http://schemas.openxmlformats.org/officeDocument/2006/relationships/notesSlide" Target="/ppt/notesSlides/notesSlide8.xml" Id="R41785b0aa84b4b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6bf36e43b40a1" /><Relationship Type="http://schemas.openxmlformats.org/officeDocument/2006/relationships/notesSlide" Target="/ppt/notesSlides/notesSlide9.xml" Id="Ra8c8c6c391cb4d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e1eacf54c46fb" /><Relationship Type="http://schemas.openxmlformats.org/officeDocument/2006/relationships/notesSlide" Target="/ppt/notesSlides/notesSlide10.xml" Id="Rd6ae36951b3e44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fd5e945924ea9" /><Relationship Type="http://schemas.openxmlformats.org/officeDocument/2006/relationships/notesSlide" Target="/ppt/notesSlides/notesSlide11.xml" Id="R8aa10c5c5bb240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e1a19ad1647a7" /><Relationship Type="http://schemas.openxmlformats.org/officeDocument/2006/relationships/notesSlide" Target="/ppt/notesSlides/notesSlide12.xml" Id="R90b29a76259346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EA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Google Shape;16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c93b17b60e7494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697200" y="609600"/>
            <a:ext cx="1600200" cy="4585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" name="Google Shape;17;p1">
            <a:extLst xmlns:a="http://schemas.openxmlformats.org/drawingml/2006/main">
              <a:ext uri="{FF2B5EF4-FFF2-40B4-BE49-F238E27FC236}">
                <a16:creationId xmlns:a16="http://schemas.microsoft.com/office/drawing/2014/main" id="{60047482-7402-4ACB-8A3A-5BB6D903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625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>
            <a:extLst xmlns:a="http://schemas.openxmlformats.org/drawingml/2006/main">
              <a:ext uri="{FF2B5EF4-FFF2-40B4-BE49-F238E27FC236}">
                <a16:creationId xmlns:a16="http://schemas.microsoft.com/office/drawing/2014/main" id="{B4165ED7-DBCC-48C1-AC98-2F6BA209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6300"/>
            <a:ext cx="6277987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JÓVENES CREATIVOS 2026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1">
            <a:extLst xmlns:a="http://schemas.openxmlformats.org/drawingml/2006/main">
              <a:ext uri="{FF2B5EF4-FFF2-40B4-BE49-F238E27FC236}">
                <a16:creationId xmlns:a16="http://schemas.microsoft.com/office/drawing/2014/main" id="{F78552A1-5D58-4B27-9FA8-A737F5CE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90317"/>
            <a:ext cx="1793748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1734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7778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3000"/>
              <a:buFont typeface="Arial"/>
              <a:buNone/>
            </a:pPr>
            <a:r>
              <a:rPr sz="30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Módulo 3 · JavaScript y lógica dinámica</a:t>
            </a:r>
            <a:endParaRPr sz="3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1">
            <a:extLst xmlns:a="http://schemas.openxmlformats.org/drawingml/2006/main">
              <a:ext uri="{FF2B5EF4-FFF2-40B4-BE49-F238E27FC236}">
                <a16:creationId xmlns:a16="http://schemas.microsoft.com/office/drawing/2014/main" id="{C9237E02-A891-4147-AA0D-BC62931A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52317"/>
            <a:ext cx="16796004" cy="1755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586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sz="6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Día de cierre de brechas_</a:t>
            </a:r>
            <a:endParaRPr sz="6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Google Shape;21;p1">
            <a:extLst xmlns:a="http://schemas.openxmlformats.org/drawingml/2006/main">
              <a:ext uri="{FF2B5EF4-FFF2-40B4-BE49-F238E27FC236}">
                <a16:creationId xmlns:a16="http://schemas.microsoft.com/office/drawing/2014/main" id="{524CF37B-9478-4F14-91F3-E83BC368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55554"/>
            <a:ext cx="137350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6481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2550"/>
              <a:buFont typeface="Arial"/>
              <a:buNone/>
            </a:pPr>
            <a:r>
              <a:rPr sz="2550" b="0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Diagnosticar, practicar y aplicar: sintaxis JS, DOM y eventos, diseño responsive y publicación web.</a:t>
            </a:r>
            <a:endParaRPr sz="25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Google Shape;22;p1">
            <a:extLst xmlns:a="http://schemas.openxmlformats.org/drawingml/2006/main">
              <a:ext uri="{FF2B5EF4-FFF2-40B4-BE49-F238E27FC236}">
                <a16:creationId xmlns:a16="http://schemas.microsoft.com/office/drawing/2014/main" id="{5B9E1E3B-0F1E-48C0-829C-417BD7A0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63364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>
            <a:extLst xmlns:a="http://schemas.openxmlformats.org/drawingml/2006/main">
              <a:ext uri="{FF2B5EF4-FFF2-40B4-BE49-F238E27FC236}">
                <a16:creationId xmlns:a16="http://schemas.microsoft.com/office/drawing/2014/main" id="{2FA5224B-6FC9-4D4D-801F-2674EE47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475589"/>
            <a:ext cx="2767533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Guía de clase · sofka_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Google Shape;24;p1">
            <a:extLst xmlns:a="http://schemas.openxmlformats.org/drawingml/2006/main">
              <a:ext uri="{FF2B5EF4-FFF2-40B4-BE49-F238E27FC236}">
                <a16:creationId xmlns:a16="http://schemas.microsoft.com/office/drawing/2014/main" id="{3828D5EA-FA51-4854-A4EE-AF9F8E82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4275" y="9475589"/>
            <a:ext cx="2357438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89652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Duración 3 h · Presencial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12333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FEA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Google Shape;64;p3">
            <a:extLst xmlns:a="http://schemas.openxmlformats.org/drawingml/2006/main">
              <a:ext uri="{FF2B5EF4-FFF2-40B4-BE49-F238E27FC236}">
                <a16:creationId xmlns:a16="http://schemas.microsoft.com/office/drawing/2014/main" id="{A80B3393-4131-4BD4-8E14-81D42244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625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>
            <a:extLst xmlns:a="http://schemas.openxmlformats.org/drawingml/2006/main">
              <a:ext uri="{FF2B5EF4-FFF2-40B4-BE49-F238E27FC236}">
                <a16:creationId xmlns:a16="http://schemas.microsoft.com/office/drawing/2014/main" id="{E54DD104-32D9-46E0-AFFC-677B1ECB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6300"/>
            <a:ext cx="4218503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LA SESIÓN DE UN VISTAZO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Google Shape;66;p3">
            <a:extLst xmlns:a="http://schemas.openxmlformats.org/drawingml/2006/main">
              <a:ext uri="{FF2B5EF4-FFF2-40B4-BE49-F238E27FC236}">
                <a16:creationId xmlns:a16="http://schemas.microsoft.com/office/drawing/2014/main" id="{4DC739AD-CC8E-4630-AB08-A5C384B8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78161"/>
            <a:ext cx="17937480" cy="582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445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8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sz="4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Antes de empezar_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" name="Google Shape;67;p3">
            <a:extLst xmlns:a="http://schemas.openxmlformats.org/drawingml/2006/main">
              <a:ext uri="{FF2B5EF4-FFF2-40B4-BE49-F238E27FC236}">
                <a16:creationId xmlns:a16="http://schemas.microsoft.com/office/drawing/2014/main" id="{51C256F4-C13A-4496-9BEA-54726A76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57437"/>
            <a:ext cx="3905250" cy="21943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>
            <a:extLst xmlns:a="http://schemas.openxmlformats.org/drawingml/2006/main">
              <a:ext uri="{FF2B5EF4-FFF2-40B4-BE49-F238E27FC236}">
                <a16:creationId xmlns:a16="http://schemas.microsoft.com/office/drawing/2014/main" id="{885B096B-8422-4C91-98B7-8B582486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009862"/>
            <a:ext cx="3478530" cy="481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173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2250"/>
              <a:buFont typeface="Arial"/>
              <a:buNone/>
            </a:pPr>
            <a:r>
              <a:rPr sz="2250" b="0" i="0" u="none" cap="none">
                <a:solidFill>
                  <a:srgbClr val="FF7E08"/>
                </a:solidFill>
                <a:latin typeface="Arial"/>
                <a:ea typeface="Arial"/>
                <a:cs typeface="Arial"/>
              </a:rPr>
              <a:t>Duración</a:t>
            </a:r>
            <a:endParaRPr sz="2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" name="Google Shape;69;p3">
            <a:extLst xmlns:a="http://schemas.openxmlformats.org/drawingml/2006/main">
              <a:ext uri="{FF2B5EF4-FFF2-40B4-BE49-F238E27FC236}">
                <a16:creationId xmlns:a16="http://schemas.microsoft.com/office/drawing/2014/main" id="{E1B94455-7668-4E96-A87D-12060845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586124"/>
            <a:ext cx="3478530" cy="539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147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1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sz="255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3 horas</a:t>
            </a:r>
            <a:endParaRPr sz="25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" name="Google Shape;70;p3">
            <a:extLst xmlns:a="http://schemas.openxmlformats.org/drawingml/2006/main">
              <a:ext uri="{FF2B5EF4-FFF2-40B4-BE49-F238E27FC236}">
                <a16:creationId xmlns:a16="http://schemas.microsoft.com/office/drawing/2014/main" id="{E8D532B1-B226-4D11-97F3-AEDC5726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145123"/>
            <a:ext cx="3478530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Diagnóstico, práctica y cierre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" name="Google Shape;71;p3">
            <a:extLst xmlns:a="http://schemas.openxmlformats.org/drawingml/2006/main">
              <a:ext uri="{FF2B5EF4-FFF2-40B4-BE49-F238E27FC236}">
                <a16:creationId xmlns:a16="http://schemas.microsoft.com/office/drawing/2014/main" id="{91ED1B36-E293-45D2-BCE2-E73CD811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657437"/>
            <a:ext cx="3905250" cy="21943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>
            <a:extLst xmlns:a="http://schemas.openxmlformats.org/drawingml/2006/main">
              <a:ext uri="{FF2B5EF4-FFF2-40B4-BE49-F238E27FC236}">
                <a16:creationId xmlns:a16="http://schemas.microsoft.com/office/drawing/2014/main" id="{0CD99A39-C0DC-4040-A935-36A08E62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009862"/>
            <a:ext cx="3478530" cy="481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173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2250"/>
              <a:buFont typeface="Arial"/>
              <a:buNone/>
            </a:pPr>
            <a:r>
              <a:rPr sz="2250" b="0" i="0" u="none" cap="none">
                <a:solidFill>
                  <a:srgbClr val="FF7E08"/>
                </a:solidFill>
                <a:latin typeface="Arial"/>
                <a:ea typeface="Arial"/>
                <a:cs typeface="Arial"/>
              </a:rPr>
              <a:t>Herramientas</a:t>
            </a:r>
            <a:endParaRPr sz="2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Google Shape;73;p3">
            <a:extLst xmlns:a="http://schemas.openxmlformats.org/drawingml/2006/main">
              <a:ext uri="{FF2B5EF4-FFF2-40B4-BE49-F238E27FC236}">
                <a16:creationId xmlns:a16="http://schemas.microsoft.com/office/drawing/2014/main" id="{681C9726-6399-4E88-8043-82C6E438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586124"/>
            <a:ext cx="3478530" cy="539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147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1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sz="255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VS Code · DevTools</a:t>
            </a:r>
            <a:endParaRPr sz="25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" name="Google Shape;74;p3">
            <a:extLst xmlns:a="http://schemas.openxmlformats.org/drawingml/2006/main">
              <a:ext uri="{FF2B5EF4-FFF2-40B4-BE49-F238E27FC236}">
                <a16:creationId xmlns:a16="http://schemas.microsoft.com/office/drawing/2014/main" id="{DACD9962-5CC9-4106-A73B-2AE827AC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6145123"/>
            <a:ext cx="3478530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0523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Git, navegador y proyecto acumulado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Google Shape;75;p3">
            <a:extLst xmlns:a="http://schemas.openxmlformats.org/drawingml/2006/main">
              <a:ext uri="{FF2B5EF4-FFF2-40B4-BE49-F238E27FC236}">
                <a16:creationId xmlns:a16="http://schemas.microsoft.com/office/drawing/2014/main" id="{EDAF52BC-E960-4A12-86C4-508DDF97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57437"/>
            <a:ext cx="3905250" cy="21943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>
            <a:extLst xmlns:a="http://schemas.openxmlformats.org/drawingml/2006/main">
              <a:ext uri="{FF2B5EF4-FFF2-40B4-BE49-F238E27FC236}">
                <a16:creationId xmlns:a16="http://schemas.microsoft.com/office/drawing/2014/main" id="{62154CC2-FA7A-4F94-B385-947BFB96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009862"/>
            <a:ext cx="3478530" cy="481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173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2250"/>
              <a:buFont typeface="Arial"/>
              <a:buNone/>
            </a:pPr>
            <a:r>
              <a:rPr sz="2250" b="0" i="0" u="none" cap="none">
                <a:solidFill>
                  <a:srgbClr val="FF7E08"/>
                </a:solidFill>
                <a:latin typeface="Arial"/>
                <a:ea typeface="Arial"/>
                <a:cs typeface="Arial"/>
              </a:rPr>
              <a:t>Modalidad</a:t>
            </a:r>
            <a:endParaRPr sz="2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Google Shape;77;p3">
            <a:extLst xmlns:a="http://schemas.openxmlformats.org/drawingml/2006/main">
              <a:ext uri="{FF2B5EF4-FFF2-40B4-BE49-F238E27FC236}">
                <a16:creationId xmlns:a16="http://schemas.microsoft.com/office/drawing/2014/main" id="{7D9A95E2-A2D7-426A-BEBB-5BCA8390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586124"/>
            <a:ext cx="3478530" cy="539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147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1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sz="255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Presencial</a:t>
            </a:r>
            <a:endParaRPr sz="25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Google Shape;78;p3">
            <a:extLst xmlns:a="http://schemas.openxmlformats.org/drawingml/2006/main">
              <a:ext uri="{FF2B5EF4-FFF2-40B4-BE49-F238E27FC236}">
                <a16:creationId xmlns:a16="http://schemas.microsoft.com/office/drawing/2014/main" id="{40E1BC62-3973-4D17-A06C-A7DE76EE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145123"/>
            <a:ext cx="3478530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Trabajo individual y en parejas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" name="Google Shape;79;p3">
            <a:extLst xmlns:a="http://schemas.openxmlformats.org/drawingml/2006/main">
              <a:ext uri="{FF2B5EF4-FFF2-40B4-BE49-F238E27FC236}">
                <a16:creationId xmlns:a16="http://schemas.microsoft.com/office/drawing/2014/main" id="{70656799-EB5E-4147-A252-29FBE710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4657437"/>
            <a:ext cx="3905250" cy="21943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>
            <a:extLst xmlns:a="http://schemas.openxmlformats.org/drawingml/2006/main">
              <a:ext uri="{FF2B5EF4-FFF2-40B4-BE49-F238E27FC236}">
                <a16:creationId xmlns:a16="http://schemas.microsoft.com/office/drawing/2014/main" id="{9652B645-B5FF-43A8-BCFB-CE3A4501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5009862"/>
            <a:ext cx="3478530" cy="481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173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2250"/>
              <a:buFont typeface="Arial"/>
              <a:buNone/>
            </a:pPr>
            <a:r>
              <a:rPr sz="2250" b="0" i="0" u="none" cap="none">
                <a:solidFill>
                  <a:srgbClr val="FF7E08"/>
                </a:solidFill>
                <a:latin typeface="Arial"/>
                <a:ea typeface="Arial"/>
                <a:cs typeface="Arial"/>
              </a:rPr>
              <a:t>Punto de partida</a:t>
            </a:r>
            <a:endParaRPr sz="2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Google Shape;81;p3">
            <a:extLst xmlns:a="http://schemas.openxmlformats.org/drawingml/2006/main">
              <a:ext uri="{FF2B5EF4-FFF2-40B4-BE49-F238E27FC236}">
                <a16:creationId xmlns:a16="http://schemas.microsoft.com/office/drawing/2014/main" id="{4C46BBEA-A1E6-4C4E-9EBA-46913426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5586124"/>
            <a:ext cx="3478530" cy="539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147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1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sz="255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Tu proyecto</a:t>
            </a:r>
            <a:endParaRPr sz="25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" name="Google Shape;82;p3">
            <a:extLst xmlns:a="http://schemas.openxmlformats.org/drawingml/2006/main">
              <a:ext uri="{FF2B5EF4-FFF2-40B4-BE49-F238E27FC236}">
                <a16:creationId xmlns:a16="http://schemas.microsoft.com/office/drawing/2014/main" id="{DC860ED5-AF92-43F6-A992-0B0A9379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6145123"/>
            <a:ext cx="3478530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8376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Código funcional de semanas anteriores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" name="Google Shape;83;p3">
            <a:extLst xmlns:a="http://schemas.openxmlformats.org/drawingml/2006/main">
              <a:ext uri="{FF2B5EF4-FFF2-40B4-BE49-F238E27FC236}">
                <a16:creationId xmlns:a16="http://schemas.microsoft.com/office/drawing/2014/main" id="{8E15DA9E-C7CD-4900-940C-7344E189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63364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>
            <a:extLst xmlns:a="http://schemas.openxmlformats.org/drawingml/2006/main">
              <a:ext uri="{FF2B5EF4-FFF2-40B4-BE49-F238E27FC236}">
                <a16:creationId xmlns:a16="http://schemas.microsoft.com/office/drawing/2014/main" id="{2BAF27D1-592B-412E-90F3-AF6D0294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475589"/>
            <a:ext cx="3349526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84627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SEMANA 12 · CIERRE DE BRECHAS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" name="Google Shape;85;p3">
            <a:extLst xmlns:a="http://schemas.openxmlformats.org/drawingml/2006/main">
              <a:ext uri="{FF2B5EF4-FFF2-40B4-BE49-F238E27FC236}">
                <a16:creationId xmlns:a16="http://schemas.microsoft.com/office/drawing/2014/main" id="{BE74ECED-1E36-4430-BB37-A4D02AEB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3053" y="9475589"/>
            <a:ext cx="330547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02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07082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FEA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p5">
            <a:extLst xmlns:a="http://schemas.openxmlformats.org/drawingml/2006/main">
              <a:ext uri="{FF2B5EF4-FFF2-40B4-BE49-F238E27FC236}">
                <a16:creationId xmlns:a16="http://schemas.microsoft.com/office/drawing/2014/main" id="{E81275ED-B2EC-407E-A6C8-D54496C0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>
            <a:extLst xmlns:a="http://schemas.openxmlformats.org/drawingml/2006/main">
              <a:ext uri="{FF2B5EF4-FFF2-40B4-BE49-F238E27FC236}">
                <a16:creationId xmlns:a16="http://schemas.microsoft.com/office/drawing/2014/main" id="{EF8094F2-F365-49F2-A15A-D26BA983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625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7490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>
            <a:extLst xmlns:a="http://schemas.openxmlformats.org/drawingml/2006/main">
              <a:ext uri="{FF2B5EF4-FFF2-40B4-BE49-F238E27FC236}">
                <a16:creationId xmlns:a16="http://schemas.microsoft.com/office/drawing/2014/main" id="{1ED7D680-71DF-40CE-A41A-30EAD5A5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6300"/>
            <a:ext cx="4386962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OBJETIVO DE APRENDIZAJE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5">
            <a:extLst xmlns:a="http://schemas.openxmlformats.org/drawingml/2006/main">
              <a:ext uri="{FF2B5EF4-FFF2-40B4-BE49-F238E27FC236}">
                <a16:creationId xmlns:a16="http://schemas.microsoft.com/office/drawing/2014/main" id="{A8E80A59-F24F-491F-B012-487A596A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0581"/>
            <a:ext cx="15697200" cy="189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9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sz="4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Detectar qué dominas y cerrar brechas concretas mediante práctica guiada sobre tu propio proyecto._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5">
            <a:extLst xmlns:a="http://schemas.openxmlformats.org/drawingml/2006/main">
              <a:ext uri="{FF2B5EF4-FFF2-40B4-BE49-F238E27FC236}">
                <a16:creationId xmlns:a16="http://schemas.microsoft.com/office/drawing/2014/main" id="{38B5D70D-74C2-4500-82AF-67CB383E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85253"/>
            <a:ext cx="14127600" cy="9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4957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4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Hoy no agregamos teoría nueva: recuperamos lo esencial, verificamos evidencias y salimos con un plan de mejora accionable.</a:t>
            </a: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5">
            <a:extLst xmlns:a="http://schemas.openxmlformats.org/drawingml/2006/main">
              <a:ext uri="{FF2B5EF4-FFF2-40B4-BE49-F238E27FC236}">
                <a16:creationId xmlns:a16="http://schemas.microsoft.com/office/drawing/2014/main" id="{D5614F80-B601-4A7B-B613-E7ECE226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63364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>
            <a:extLst xmlns:a="http://schemas.openxmlformats.org/drawingml/2006/main">
              <a:ext uri="{FF2B5EF4-FFF2-40B4-BE49-F238E27FC236}">
                <a16:creationId xmlns:a16="http://schemas.microsoft.com/office/drawing/2014/main" id="{882E9BD4-447C-4A85-808C-36FF895C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475589"/>
            <a:ext cx="3349526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84627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SEMANA 12 · CIERRE DE BRECHAS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Google Shape;98;p5">
            <a:extLst xmlns:a="http://schemas.openxmlformats.org/drawingml/2006/main">
              <a:ext uri="{FF2B5EF4-FFF2-40B4-BE49-F238E27FC236}">
                <a16:creationId xmlns:a16="http://schemas.microsoft.com/office/drawing/2014/main" id="{ADACD6F0-E05D-4F01-A90E-EE5C8461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3053" y="9475589"/>
            <a:ext cx="330547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03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33602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FEA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" name="Google Shape;104;p6">
            <a:extLst xmlns:a="http://schemas.openxmlformats.org/drawingml/2006/main">
              <a:ext uri="{FF2B5EF4-FFF2-40B4-BE49-F238E27FC236}">
                <a16:creationId xmlns:a16="http://schemas.microsoft.com/office/drawing/2014/main" id="{CB15B3B4-4603-4CAF-996C-932A123F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625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>
            <a:extLst xmlns:a="http://schemas.openxmlformats.org/drawingml/2006/main">
              <a:ext uri="{FF2B5EF4-FFF2-40B4-BE49-F238E27FC236}">
                <a16:creationId xmlns:a16="http://schemas.microsoft.com/office/drawing/2014/main" id="{758993B9-0DF3-4633-9D56-8D111659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6300"/>
            <a:ext cx="3563169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MAPA DE LA SESIÓN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6">
            <a:extLst xmlns:a="http://schemas.openxmlformats.org/drawingml/2006/main">
              <a:ext uri="{FF2B5EF4-FFF2-40B4-BE49-F238E27FC236}">
                <a16:creationId xmlns:a16="http://schemas.microsoft.com/office/drawing/2014/main" id="{F4ECAF1F-E691-4B07-8A03-EE7C2870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59111"/>
            <a:ext cx="17937480" cy="582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445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8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sz="4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Seis estaciones para recuperar confianza_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6">
            <a:extLst xmlns:a="http://schemas.openxmlformats.org/drawingml/2006/main">
              <a:ext uri="{FF2B5EF4-FFF2-40B4-BE49-F238E27FC236}">
                <a16:creationId xmlns:a16="http://schemas.microsoft.com/office/drawing/2014/main" id="{48154D52-FBD5-4454-BB2D-64F6A402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5037"/>
            <a:ext cx="5301704" cy="27067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>
            <a:extLst xmlns:a="http://schemas.openxmlformats.org/drawingml/2006/main">
              <a:ext uri="{FF2B5EF4-FFF2-40B4-BE49-F238E27FC236}">
                <a16:creationId xmlns:a16="http://schemas.microsoft.com/office/drawing/2014/main" id="{5F141B35-646F-4595-9D24-A44021C9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717462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>
            <a:extLst xmlns:a="http://schemas.openxmlformats.org/drawingml/2006/main">
              <a:ext uri="{FF2B5EF4-FFF2-40B4-BE49-F238E27FC236}">
                <a16:creationId xmlns:a16="http://schemas.microsoft.com/office/drawing/2014/main" id="{E88494C9-7BBB-4FDD-8535-7D59574D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717462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p6">
            <a:extLst xmlns:a="http://schemas.openxmlformats.org/drawingml/2006/main">
              <a:ext uri="{FF2B5EF4-FFF2-40B4-BE49-F238E27FC236}">
                <a16:creationId xmlns:a16="http://schemas.microsoft.com/office/drawing/2014/main" id="{DCEACF2F-EDCC-4FEC-AD27-B513B398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288962"/>
            <a:ext cx="5014630" cy="436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261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sz="2025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Diagnóstico</a:t>
            </a:r>
            <a:endParaRPr sz="20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6">
            <a:extLst xmlns:a="http://schemas.openxmlformats.org/drawingml/2006/main">
              <a:ext uri="{FF2B5EF4-FFF2-40B4-BE49-F238E27FC236}">
                <a16:creationId xmlns:a16="http://schemas.microsoft.com/office/drawing/2014/main" id="{8C90B100-CAAB-49BD-9853-5DC0FF7B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763724"/>
            <a:ext cx="4695517" cy="9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Marca cada tema en verde, amarillo o rojo.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6">
            <a:extLst xmlns:a="http://schemas.openxmlformats.org/drawingml/2006/main">
              <a:ext uri="{FF2B5EF4-FFF2-40B4-BE49-F238E27FC236}">
                <a16:creationId xmlns:a16="http://schemas.microsoft.com/office/drawing/2014/main" id="{90A9521E-6B68-4789-8531-ED319487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804" y="2365037"/>
            <a:ext cx="5301704" cy="27067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>
            <a:extLst xmlns:a="http://schemas.openxmlformats.org/drawingml/2006/main">
              <a:ext uri="{FF2B5EF4-FFF2-40B4-BE49-F238E27FC236}">
                <a16:creationId xmlns:a16="http://schemas.microsoft.com/office/drawing/2014/main" id="{A27BD023-89B1-463F-8ADD-19F88635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279" y="2717462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>
            <a:extLst xmlns:a="http://schemas.openxmlformats.org/drawingml/2006/main">
              <a:ext uri="{FF2B5EF4-FFF2-40B4-BE49-F238E27FC236}">
                <a16:creationId xmlns:a16="http://schemas.microsoft.com/office/drawing/2014/main" id="{6EA6876F-B31F-4BA4-BA9E-A30F5374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179" y="2717462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Google Shape;115;p6">
            <a:extLst xmlns:a="http://schemas.openxmlformats.org/drawingml/2006/main">
              <a:ext uri="{FF2B5EF4-FFF2-40B4-BE49-F238E27FC236}">
                <a16:creationId xmlns:a16="http://schemas.microsoft.com/office/drawing/2014/main" id="{CE40F92A-4BCE-484F-9DC7-1B4FE8C5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279" y="3288962"/>
            <a:ext cx="5014630" cy="436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261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sz="2025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Sintaxis JS</a:t>
            </a:r>
            <a:endParaRPr sz="20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Google Shape;116;p6">
            <a:extLst xmlns:a="http://schemas.openxmlformats.org/drawingml/2006/main">
              <a:ext uri="{FF2B5EF4-FFF2-40B4-BE49-F238E27FC236}">
                <a16:creationId xmlns:a16="http://schemas.microsoft.com/office/drawing/2014/main" id="{0750FCD0-CF5E-4A22-BECB-35BB0CF3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279" y="3763724"/>
            <a:ext cx="4695517" cy="687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8169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Courier New"/>
              <a:buNone/>
            </a:pPr>
            <a:r>
              <a:rPr sz="1800" b="0" i="0" u="none" cap="none">
                <a:solidFill>
                  <a:srgbClr val="443E35"/>
                </a:solidFill>
                <a:latin typeface="Courier New"/>
                <a:ea typeface="Courier New"/>
                <a:cs typeface="Courier New"/>
              </a:rPr>
              <a:t>Tipos, operadores, variables y consola.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Google Shape;117;p6">
            <a:extLst xmlns:a="http://schemas.openxmlformats.org/drawingml/2006/main">
              <a:ext uri="{FF2B5EF4-FFF2-40B4-BE49-F238E27FC236}">
                <a16:creationId xmlns:a16="http://schemas.microsoft.com/office/drawing/2014/main" id="{71330106-D757-4163-BC15-FA6F5A27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5009" y="2365037"/>
            <a:ext cx="5301704" cy="27067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>
            <a:extLst xmlns:a="http://schemas.openxmlformats.org/drawingml/2006/main">
              <a:ext uri="{FF2B5EF4-FFF2-40B4-BE49-F238E27FC236}">
                <a16:creationId xmlns:a16="http://schemas.microsoft.com/office/drawing/2014/main" id="{25C63B5A-F4E0-4834-81F3-E40B268E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6484" y="2717462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>
            <a:extLst xmlns:a="http://schemas.openxmlformats.org/drawingml/2006/main">
              <a:ext uri="{FF2B5EF4-FFF2-40B4-BE49-F238E27FC236}">
                <a16:creationId xmlns:a16="http://schemas.microsoft.com/office/drawing/2014/main" id="{9FA8BFD9-922D-4ABC-8A53-94A7C7CB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8384" y="2717462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0" name="Google Shape;120;p6">
            <a:extLst xmlns:a="http://schemas.openxmlformats.org/drawingml/2006/main">
              <a:ext uri="{FF2B5EF4-FFF2-40B4-BE49-F238E27FC236}">
                <a16:creationId xmlns:a16="http://schemas.microsoft.com/office/drawing/2014/main" id="{E92F19EB-DB43-4BF0-81F4-F272A6FA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6484" y="3288962"/>
            <a:ext cx="5014630" cy="436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261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sz="2025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DOM y eventos</a:t>
            </a:r>
            <a:endParaRPr sz="20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" name="Google Shape;121;p6">
            <a:extLst xmlns:a="http://schemas.openxmlformats.org/drawingml/2006/main">
              <a:ext uri="{FF2B5EF4-FFF2-40B4-BE49-F238E27FC236}">
                <a16:creationId xmlns:a16="http://schemas.microsoft.com/office/drawing/2014/main" id="{0C2C5726-A71E-4D36-ADFF-3E5D488D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6484" y="3763724"/>
            <a:ext cx="4695517" cy="993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Courier New"/>
              <a:buNone/>
            </a:pPr>
            <a:r>
              <a:rPr sz="1800" b="0" i="0" u="none" cap="none">
                <a:solidFill>
                  <a:srgbClr val="443E35"/>
                </a:solidFill>
                <a:latin typeface="Courier New"/>
                <a:ea typeface="Courier New"/>
                <a:cs typeface="Courier New"/>
              </a:rPr>
              <a:t>Seleccionar, escuchar, crear y persistir.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2" name="Google Shape;122;p6">
            <a:extLst xmlns:a="http://schemas.openxmlformats.org/drawingml/2006/main">
              <a:ext uri="{FF2B5EF4-FFF2-40B4-BE49-F238E27FC236}">
                <a16:creationId xmlns:a16="http://schemas.microsoft.com/office/drawing/2014/main" id="{A15A7FA3-9F3B-4D0C-BCAB-2E1C75F9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62274"/>
            <a:ext cx="5301704" cy="24008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>
            <a:extLst xmlns:a="http://schemas.openxmlformats.org/drawingml/2006/main">
              <a:ext uri="{FF2B5EF4-FFF2-40B4-BE49-F238E27FC236}">
                <a16:creationId xmlns:a16="http://schemas.microsoft.com/office/drawing/2014/main" id="{7B89CEDF-B47D-41D5-85B9-4C2E3DE6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614699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>
            <a:extLst xmlns:a="http://schemas.openxmlformats.org/drawingml/2006/main">
              <a:ext uri="{FF2B5EF4-FFF2-40B4-BE49-F238E27FC236}">
                <a16:creationId xmlns:a16="http://schemas.microsoft.com/office/drawing/2014/main" id="{BF146C3B-52AB-4475-9CFC-C8B67651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614699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" name="Google Shape;125;p6">
            <a:extLst xmlns:a="http://schemas.openxmlformats.org/drawingml/2006/main">
              <a:ext uri="{FF2B5EF4-FFF2-40B4-BE49-F238E27FC236}">
                <a16:creationId xmlns:a16="http://schemas.microsoft.com/office/drawing/2014/main" id="{FAE516B8-3A1A-4FAC-839C-0F57FCC1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186199"/>
            <a:ext cx="5014630" cy="436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261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sz="2025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Grid y Flex</a:t>
            </a:r>
            <a:endParaRPr sz="20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6" name="Google Shape;126;p6">
            <a:extLst xmlns:a="http://schemas.openxmlformats.org/drawingml/2006/main">
              <a:ext uri="{FF2B5EF4-FFF2-40B4-BE49-F238E27FC236}">
                <a16:creationId xmlns:a16="http://schemas.microsoft.com/office/drawing/2014/main" id="{1F15B7E8-0440-4B11-BF20-E55448B6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660961"/>
            <a:ext cx="4695517" cy="687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Courier New"/>
              <a:buNone/>
            </a:pPr>
            <a:r>
              <a:rPr sz="1800" b="0" i="0" u="none" cap="none">
                <a:solidFill>
                  <a:srgbClr val="443E35"/>
                </a:solidFill>
                <a:latin typeface="Courier New"/>
                <a:ea typeface="Courier New"/>
                <a:cs typeface="Courier New"/>
              </a:rPr>
              <a:t>Elegir el sistema según el diseño.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7" name="Google Shape;127;p6">
            <a:extLst xmlns:a="http://schemas.openxmlformats.org/drawingml/2006/main">
              <a:ext uri="{FF2B5EF4-FFF2-40B4-BE49-F238E27FC236}">
                <a16:creationId xmlns:a16="http://schemas.microsoft.com/office/drawing/2014/main" id="{646350A7-DC62-4D7E-95A8-6D0F2938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804" y="5262274"/>
            <a:ext cx="5301704" cy="24008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>
            <a:extLst xmlns:a="http://schemas.openxmlformats.org/drawingml/2006/main">
              <a:ext uri="{FF2B5EF4-FFF2-40B4-BE49-F238E27FC236}">
                <a16:creationId xmlns:a16="http://schemas.microsoft.com/office/drawing/2014/main" id="{D6238189-BAC7-40F4-8C9E-20CAEF7A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279" y="5614699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>
            <a:extLst xmlns:a="http://schemas.openxmlformats.org/drawingml/2006/main">
              <a:ext uri="{FF2B5EF4-FFF2-40B4-BE49-F238E27FC236}">
                <a16:creationId xmlns:a16="http://schemas.microsoft.com/office/drawing/2014/main" id="{88222159-F8CA-4E84-8EAB-365A62F0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179" y="5614699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0" name="Google Shape;130;p6">
            <a:extLst xmlns:a="http://schemas.openxmlformats.org/drawingml/2006/main">
              <a:ext uri="{FF2B5EF4-FFF2-40B4-BE49-F238E27FC236}">
                <a16:creationId xmlns:a16="http://schemas.microsoft.com/office/drawing/2014/main" id="{C7D7B4FB-8E79-46AA-8D41-ECB05ED8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279" y="6186199"/>
            <a:ext cx="5014630" cy="436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261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sz="2025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Tailwind</a:t>
            </a:r>
            <a:endParaRPr sz="20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1" name="Google Shape;131;p6">
            <a:extLst xmlns:a="http://schemas.openxmlformats.org/drawingml/2006/main">
              <a:ext uri="{FF2B5EF4-FFF2-40B4-BE49-F238E27FC236}">
                <a16:creationId xmlns:a16="http://schemas.microsoft.com/office/drawing/2014/main" id="{824B505C-F32D-4E6A-ADA3-488C90C6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279" y="6660961"/>
            <a:ext cx="4695517" cy="687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8169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Courier New"/>
              <a:buNone/>
            </a:pPr>
            <a:r>
              <a:rPr sz="1800" b="0" i="0" u="none" cap="none">
                <a:solidFill>
                  <a:srgbClr val="443E35"/>
                </a:solidFill>
                <a:latin typeface="Courier New"/>
                <a:ea typeface="Courier New"/>
                <a:cs typeface="Courier New"/>
              </a:rPr>
              <a:t>Construir con clases utilitarias responsive.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2" name="Google Shape;132;p6">
            <a:extLst xmlns:a="http://schemas.openxmlformats.org/drawingml/2006/main">
              <a:ext uri="{FF2B5EF4-FFF2-40B4-BE49-F238E27FC236}">
                <a16:creationId xmlns:a16="http://schemas.microsoft.com/office/drawing/2014/main" id="{509D1C12-3FFB-4681-BA49-7C178867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5009" y="5262274"/>
            <a:ext cx="5301704" cy="24008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>
            <a:extLst xmlns:a="http://schemas.openxmlformats.org/drawingml/2006/main">
              <a:ext uri="{FF2B5EF4-FFF2-40B4-BE49-F238E27FC236}">
                <a16:creationId xmlns:a16="http://schemas.microsoft.com/office/drawing/2014/main" id="{8A4BECEB-AE12-4019-AEDA-28A0A145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959" y="5605174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>
            <a:extLst xmlns:a="http://schemas.openxmlformats.org/drawingml/2006/main">
              <a:ext uri="{FF2B5EF4-FFF2-40B4-BE49-F238E27FC236}">
                <a16:creationId xmlns:a16="http://schemas.microsoft.com/office/drawing/2014/main" id="{B78ACFFA-E133-418A-BE3F-727E510E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8859" y="5605174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5" name="Google Shape;135;p6">
            <a:extLst xmlns:a="http://schemas.openxmlformats.org/drawingml/2006/main">
              <a:ext uri="{FF2B5EF4-FFF2-40B4-BE49-F238E27FC236}">
                <a16:creationId xmlns:a16="http://schemas.microsoft.com/office/drawing/2014/main" id="{051BB64E-FB9B-4891-82E7-21C2F907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959" y="6176674"/>
            <a:ext cx="5035585" cy="436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261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sz="2025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Deploy</a:t>
            </a:r>
            <a:endParaRPr sz="20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6" name="Google Shape;136;p6">
            <a:extLst xmlns:a="http://schemas.openxmlformats.org/drawingml/2006/main">
              <a:ext uri="{FF2B5EF4-FFF2-40B4-BE49-F238E27FC236}">
                <a16:creationId xmlns:a16="http://schemas.microsoft.com/office/drawing/2014/main" id="{EEA7AEDB-0A7D-44C3-A252-2FB506D4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959" y="6651436"/>
            <a:ext cx="4715138" cy="668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Publicar, abrir la URL y verificar.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7" name="Google Shape;137;p6">
            <a:extLst xmlns:a="http://schemas.openxmlformats.org/drawingml/2006/main">
              <a:ext uri="{FF2B5EF4-FFF2-40B4-BE49-F238E27FC236}">
                <a16:creationId xmlns:a16="http://schemas.microsoft.com/office/drawing/2014/main" id="{DD0AFC7B-1C5F-461B-A501-D0B3C369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63364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>
            <a:extLst xmlns:a="http://schemas.openxmlformats.org/drawingml/2006/main">
              <a:ext uri="{FF2B5EF4-FFF2-40B4-BE49-F238E27FC236}">
                <a16:creationId xmlns:a16="http://schemas.microsoft.com/office/drawing/2014/main" id="{6EFD1750-38E7-420F-81F0-F7EA42E8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475589"/>
            <a:ext cx="3349526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84627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SEMANA 12 · CIERRE DE BRECHAS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9" name="Google Shape;139;p6">
            <a:extLst xmlns:a="http://schemas.openxmlformats.org/drawingml/2006/main">
              <a:ext uri="{FF2B5EF4-FFF2-40B4-BE49-F238E27FC236}">
                <a16:creationId xmlns:a16="http://schemas.microsoft.com/office/drawing/2014/main" id="{310C281C-0B2D-4287-AC33-E41E268E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3053" y="9475589"/>
            <a:ext cx="330547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04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46483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FEA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1" name="Google Shape;191;p12">
            <a:extLst xmlns:a="http://schemas.openxmlformats.org/drawingml/2006/main">
              <a:ext uri="{FF2B5EF4-FFF2-40B4-BE49-F238E27FC236}">
                <a16:creationId xmlns:a16="http://schemas.microsoft.com/office/drawing/2014/main" id="{73FA86D8-0828-4E60-909E-9668795A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2">
            <a:extLst xmlns:a="http://schemas.openxmlformats.org/drawingml/2006/main">
              <a:ext uri="{FF2B5EF4-FFF2-40B4-BE49-F238E27FC236}">
                <a16:creationId xmlns:a16="http://schemas.microsoft.com/office/drawing/2014/main" id="{EE97C661-9782-49D0-A278-95B391DE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428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2">
            <a:extLst xmlns:a="http://schemas.openxmlformats.org/drawingml/2006/main">
              <a:ext uri="{FF2B5EF4-FFF2-40B4-BE49-F238E27FC236}">
                <a16:creationId xmlns:a16="http://schemas.microsoft.com/office/drawing/2014/main" id="{49C4C986-AED2-496A-9C65-49922F38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14327"/>
            <a:ext cx="6888956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CFC5B7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CFC5B7"/>
                </a:solidFill>
                <a:latin typeface="Arial"/>
                <a:ea typeface="Arial"/>
                <a:cs typeface="Arial"/>
              </a:rPr>
              <a:t>DIAGNÓSTICO INICIAL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4" name="Google Shape;194;p12">
            <a:extLst xmlns:a="http://schemas.openxmlformats.org/drawingml/2006/main">
              <a:ext uri="{FF2B5EF4-FFF2-40B4-BE49-F238E27FC236}">
                <a16:creationId xmlns:a16="http://schemas.microsoft.com/office/drawing/2014/main" id="{177C9E8F-F1C6-407B-9AB5-05390C5F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5239"/>
            <a:ext cx="15304770" cy="1318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739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sz="4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El semáforo decide dónde practicar_</a:t>
            </a:r>
            <a:endParaRPr sz="4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5" name="Google Shape;195;p12">
            <a:extLst xmlns:a="http://schemas.openxmlformats.org/drawingml/2006/main">
              <a:ext uri="{FF2B5EF4-FFF2-40B4-BE49-F238E27FC236}">
                <a16:creationId xmlns:a16="http://schemas.microsoft.com/office/drawing/2014/main" id="{D88549BD-8DC3-4B22-AA6C-5E668DB6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34332"/>
            <a:ext cx="5289500" cy="2614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 cmpd="sng">
            <a:solidFill>
              <a:srgbClr val="2A2A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2">
            <a:extLst xmlns:a="http://schemas.openxmlformats.org/drawingml/2006/main">
              <a:ext uri="{FF2B5EF4-FFF2-40B4-BE49-F238E27FC236}">
                <a16:creationId xmlns:a16="http://schemas.microsoft.com/office/drawing/2014/main" id="{6ED4475A-A116-4411-9F5C-E1824E0F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386757"/>
            <a:ext cx="5001205" cy="481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173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2250"/>
              <a:buFont typeface="Arial"/>
              <a:buNone/>
            </a:pPr>
            <a:r>
              <a:rPr sz="2250" b="0" i="0" u="none" cap="none">
                <a:solidFill>
                  <a:srgbClr val="FF7E08"/>
                </a:solidFill>
                <a:latin typeface="Arial"/>
                <a:ea typeface="Arial"/>
                <a:cs typeface="Arial"/>
              </a:rPr>
              <a:t>VERDE</a:t>
            </a:r>
            <a:endParaRPr sz="2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7" name="Google Shape;197;p12">
            <a:extLst xmlns:a="http://schemas.openxmlformats.org/drawingml/2006/main">
              <a:ext uri="{FF2B5EF4-FFF2-40B4-BE49-F238E27FC236}">
                <a16:creationId xmlns:a16="http://schemas.microsoft.com/office/drawing/2014/main" id="{BB9DB622-C383-4A54-ADC1-98D67146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001119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">
            <a:extLst xmlns:a="http://schemas.openxmlformats.org/drawingml/2006/main">
              <a:ext uri="{FF2B5EF4-FFF2-40B4-BE49-F238E27FC236}">
                <a16:creationId xmlns:a16="http://schemas.microsoft.com/office/drawing/2014/main" id="{CA7A5986-5299-4156-8317-E6F95E09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201144"/>
            <a:ext cx="4682947" cy="1133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3677"/>
              </a:lnSpc>
              <a:spcBef>
                <a:spcPts val="0"/>
              </a:spcBef>
              <a:spcAft>
                <a:spcPts val="0"/>
              </a:spcAft>
              <a:buClr>
                <a:srgbClr val="E2DCD3"/>
              </a:buClr>
              <a:buSzPts val="2025"/>
              <a:buFont typeface="Arial"/>
              <a:buNone/>
            </a:pPr>
            <a:r>
              <a:rPr sz="2025" b="0" i="0" u="none" cap="none">
                <a:solidFill>
                  <a:srgbClr val="E2DCD3"/>
                </a:solidFill>
                <a:latin typeface="Arial"/>
                <a:ea typeface="Arial"/>
                <a:cs typeface="Arial"/>
              </a:rPr>
              <a:t>Lo explico y lo aplico sin ayuda.</a:t>
            </a:r>
            <a:endParaRPr sz="20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9" name="Google Shape;199;p12">
            <a:extLst xmlns:a="http://schemas.openxmlformats.org/drawingml/2006/main">
              <a:ext uri="{FF2B5EF4-FFF2-40B4-BE49-F238E27FC236}">
                <a16:creationId xmlns:a16="http://schemas.microsoft.com/office/drawing/2014/main" id="{7AAA5207-E4C3-42DC-BB23-B3EBFA6E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700" y="5034332"/>
            <a:ext cx="5289649" cy="2614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 cmpd="sng">
            <a:solidFill>
              <a:srgbClr val="2A2A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">
            <a:extLst xmlns:a="http://schemas.openxmlformats.org/drawingml/2006/main">
              <a:ext uri="{FF2B5EF4-FFF2-40B4-BE49-F238E27FC236}">
                <a16:creationId xmlns:a16="http://schemas.microsoft.com/office/drawing/2014/main" id="{BBB25709-F165-445F-9F5A-99265190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175" y="5386757"/>
            <a:ext cx="5001369" cy="481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173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2250"/>
              <a:buFont typeface="Arial"/>
              <a:buNone/>
            </a:pPr>
            <a:r>
              <a:rPr sz="2250" b="0" i="0" u="none" cap="none">
                <a:solidFill>
                  <a:srgbClr val="FF7E08"/>
                </a:solidFill>
                <a:latin typeface="Arial"/>
                <a:ea typeface="Arial"/>
                <a:cs typeface="Arial"/>
              </a:rPr>
              <a:t>AMARILLO</a:t>
            </a:r>
            <a:endParaRPr sz="2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1" name="Google Shape;201;p12">
            <a:extLst xmlns:a="http://schemas.openxmlformats.org/drawingml/2006/main">
              <a:ext uri="{FF2B5EF4-FFF2-40B4-BE49-F238E27FC236}">
                <a16:creationId xmlns:a16="http://schemas.microsoft.com/office/drawing/2014/main" id="{9147D0D9-B1BC-4C4C-A644-884D80DC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175" y="6001119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2">
            <a:extLst xmlns:a="http://schemas.openxmlformats.org/drawingml/2006/main">
              <a:ext uri="{FF2B5EF4-FFF2-40B4-BE49-F238E27FC236}">
                <a16:creationId xmlns:a16="http://schemas.microsoft.com/office/drawing/2014/main" id="{EA74E29B-4E9F-4AD4-AA00-A2462BCC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175" y="6201144"/>
            <a:ext cx="4683100" cy="1133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3677"/>
              </a:lnSpc>
              <a:spcBef>
                <a:spcPts val="0"/>
              </a:spcBef>
              <a:spcAft>
                <a:spcPts val="0"/>
              </a:spcAft>
              <a:buClr>
                <a:srgbClr val="E2DCD3"/>
              </a:buClr>
              <a:buSzPts val="2025"/>
              <a:buFont typeface="Arial"/>
              <a:buNone/>
            </a:pPr>
            <a:r>
              <a:rPr sz="2025" b="0" i="0" u="none" cap="none">
                <a:solidFill>
                  <a:srgbClr val="E2DCD3"/>
                </a:solidFill>
                <a:latin typeface="Arial"/>
                <a:ea typeface="Arial"/>
                <a:cs typeface="Arial"/>
              </a:rPr>
              <a:t>Lo entiendo, pero necesito practicar.</a:t>
            </a:r>
            <a:endParaRPr sz="20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3" name="Google Shape;203;p12">
            <a:extLst xmlns:a="http://schemas.openxmlformats.org/drawingml/2006/main">
              <a:ext uri="{FF2B5EF4-FFF2-40B4-BE49-F238E27FC236}">
                <a16:creationId xmlns:a16="http://schemas.microsoft.com/office/drawing/2014/main" id="{BA09D17E-214A-41F3-953D-EC86B360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6950" y="5034332"/>
            <a:ext cx="5270450" cy="2614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">
            <a:extLst xmlns:a="http://schemas.openxmlformats.org/drawingml/2006/main">
              <a:ext uri="{FF2B5EF4-FFF2-40B4-BE49-F238E27FC236}">
                <a16:creationId xmlns:a16="http://schemas.microsoft.com/office/drawing/2014/main" id="{F8736D32-1D8B-451C-8964-8F8B5463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8900" y="5377232"/>
            <a:ext cx="5001205" cy="481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173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sz="225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ROJO</a:t>
            </a:r>
            <a:endParaRPr sz="2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5" name="Google Shape;205;p12">
            <a:extLst xmlns:a="http://schemas.openxmlformats.org/drawingml/2006/main">
              <a:ext uri="{FF2B5EF4-FFF2-40B4-BE49-F238E27FC236}">
                <a16:creationId xmlns:a16="http://schemas.microsoft.com/office/drawing/2014/main" id="{EC976985-5E93-4BC3-BA1E-83D1FBA5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8900" y="5991594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">
            <a:extLst xmlns:a="http://schemas.openxmlformats.org/drawingml/2006/main">
              <a:ext uri="{FF2B5EF4-FFF2-40B4-BE49-F238E27FC236}">
                <a16:creationId xmlns:a16="http://schemas.microsoft.com/office/drawing/2014/main" id="{10D27056-DA58-4EA6-90E0-345666FA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8900" y="6191619"/>
            <a:ext cx="4682947" cy="1133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36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sz="20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Necesito una explicación y un ejemplo.</a:t>
            </a:r>
            <a:endParaRPr sz="20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7" name="Google Shape;207;p12">
            <a:extLst xmlns:a="http://schemas.openxmlformats.org/drawingml/2006/main">
              <a:ext uri="{FF2B5EF4-FFF2-40B4-BE49-F238E27FC236}">
                <a16:creationId xmlns:a16="http://schemas.microsoft.com/office/drawing/2014/main" id="{E1BCB350-63DC-41F6-B384-41F54931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63364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">
            <a:extLst xmlns:a="http://schemas.openxmlformats.org/drawingml/2006/main">
              <a:ext uri="{FF2B5EF4-FFF2-40B4-BE49-F238E27FC236}">
                <a16:creationId xmlns:a16="http://schemas.microsoft.com/office/drawing/2014/main" id="{645D5B66-4FC6-4347-B4BF-7A39B743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475589"/>
            <a:ext cx="3349526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84627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B8A894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B8A894"/>
                </a:solidFill>
                <a:latin typeface="Arial"/>
                <a:ea typeface="Arial"/>
                <a:cs typeface="Arial"/>
              </a:rPr>
              <a:t>SEMANA 12 · CIERRE DE BRECHAS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9" name="Google Shape;209;p12">
            <a:extLst xmlns:a="http://schemas.openxmlformats.org/drawingml/2006/main">
              <a:ext uri="{FF2B5EF4-FFF2-40B4-BE49-F238E27FC236}">
                <a16:creationId xmlns:a16="http://schemas.microsoft.com/office/drawing/2014/main" id="{8723ABBB-71BA-466A-886B-B9ABE830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3053" y="9475589"/>
            <a:ext cx="330547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B8A894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B8A894"/>
                </a:solidFill>
                <a:latin typeface="Arial"/>
                <a:ea typeface="Arial"/>
                <a:cs typeface="Arial"/>
              </a:rPr>
              <a:t>05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22694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FEA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1" name="Google Shape;171;p11">
            <a:extLst xmlns:a="http://schemas.openxmlformats.org/drawingml/2006/main">
              <a:ext uri="{FF2B5EF4-FFF2-40B4-BE49-F238E27FC236}">
                <a16:creationId xmlns:a16="http://schemas.microsoft.com/office/drawing/2014/main" id="{7D7CD88C-A1E5-4C45-911C-28FF1E45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625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">
            <a:extLst xmlns:a="http://schemas.openxmlformats.org/drawingml/2006/main">
              <a:ext uri="{FF2B5EF4-FFF2-40B4-BE49-F238E27FC236}">
                <a16:creationId xmlns:a16="http://schemas.microsoft.com/office/drawing/2014/main" id="{29DEF4CF-50BF-4D71-81B7-CEF09AA9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6300"/>
            <a:ext cx="4944234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BLOQUE 1 · SINTAXIS JAVASCRIPT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3" name="Google Shape;173;p11">
            <a:extLst xmlns:a="http://schemas.openxmlformats.org/drawingml/2006/main">
              <a:ext uri="{FF2B5EF4-FFF2-40B4-BE49-F238E27FC236}">
                <a16:creationId xmlns:a16="http://schemas.microsoft.com/office/drawing/2014/main" id="{9AB27388-66F8-462F-947B-918EE4A5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15412"/>
            <a:ext cx="9391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">
            <a:extLst xmlns:a="http://schemas.openxmlformats.org/drawingml/2006/main">
              <a:ext uri="{FF2B5EF4-FFF2-40B4-BE49-F238E27FC236}">
                <a16:creationId xmlns:a16="http://schemas.microsoft.com/office/drawing/2014/main" id="{10D69990-29EA-4C45-9D80-7957911D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915437"/>
            <a:ext cx="976503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2984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75"/>
              <a:buFont typeface="Arial"/>
              <a:buNone/>
            </a:pPr>
            <a:r>
              <a:rPr sz="1875" b="0" i="1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¿Qué devuelve "5" + 3?</a:t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5" name="Google Shape;175;p11">
            <a:extLst xmlns:a="http://schemas.openxmlformats.org/drawingml/2006/main">
              <a:ext uri="{FF2B5EF4-FFF2-40B4-BE49-F238E27FC236}">
                <a16:creationId xmlns:a16="http://schemas.microsoft.com/office/drawing/2014/main" id="{0BADD7E8-3198-48DD-AB74-9754C4E5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3137"/>
            <a:ext cx="9391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">
            <a:extLst xmlns:a="http://schemas.openxmlformats.org/drawingml/2006/main">
              <a:ext uri="{FF2B5EF4-FFF2-40B4-BE49-F238E27FC236}">
                <a16:creationId xmlns:a16="http://schemas.microsoft.com/office/drawing/2014/main" id="{831B415A-6CBC-4D16-A5AE-2F7E4BD4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63162"/>
            <a:ext cx="976503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2984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75"/>
              <a:buFont typeface="Arial"/>
              <a:buNone/>
            </a:pPr>
            <a:r>
              <a:rPr sz="1875" b="0" i="1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A · 8</a:t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7" name="Google Shape;177;p11">
            <a:extLst xmlns:a="http://schemas.openxmlformats.org/drawingml/2006/main">
              <a:ext uri="{FF2B5EF4-FFF2-40B4-BE49-F238E27FC236}">
                <a16:creationId xmlns:a16="http://schemas.microsoft.com/office/drawing/2014/main" id="{7B8A3581-58A7-422D-86A7-F08DD86D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0862"/>
            <a:ext cx="9391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">
            <a:extLst xmlns:a="http://schemas.openxmlformats.org/drawingml/2006/main">
              <a:ext uri="{FF2B5EF4-FFF2-40B4-BE49-F238E27FC236}">
                <a16:creationId xmlns:a16="http://schemas.microsoft.com/office/drawing/2014/main" id="{BA43E8B5-29BE-44BD-B3D7-6B2B0284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610887"/>
            <a:ext cx="976503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2984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75"/>
              <a:buFont typeface="Arial"/>
              <a:buNone/>
            </a:pPr>
            <a:r>
              <a:rPr sz="1875" b="0" i="1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B · "53"</a:t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9" name="Google Shape;179;p11">
            <a:extLst xmlns:a="http://schemas.openxmlformats.org/drawingml/2006/main">
              <a:ext uri="{FF2B5EF4-FFF2-40B4-BE49-F238E27FC236}">
                <a16:creationId xmlns:a16="http://schemas.microsoft.com/office/drawing/2014/main" id="{055BFAEB-0793-41C9-A189-1BB6602C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58587"/>
            <a:ext cx="9391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">
            <a:extLst xmlns:a="http://schemas.openxmlformats.org/drawingml/2006/main">
              <a:ext uri="{FF2B5EF4-FFF2-40B4-BE49-F238E27FC236}">
                <a16:creationId xmlns:a16="http://schemas.microsoft.com/office/drawing/2014/main" id="{BF1BD37D-A200-4112-BADE-B287D3C0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458612"/>
            <a:ext cx="9143619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sz="1875" b="0" i="1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 · Error</a:t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1" name="Google Shape;181;p11">
            <a:extLst xmlns:a="http://schemas.openxmlformats.org/drawingml/2006/main">
              <a:ext uri="{FF2B5EF4-FFF2-40B4-BE49-F238E27FC236}">
                <a16:creationId xmlns:a16="http://schemas.microsoft.com/office/drawing/2014/main" id="{1FBEB920-26C9-4A49-97C3-35D551B7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715412"/>
            <a:ext cx="6667500" cy="2249835"/>
          </a:xfrm>
          <a:prstGeom xmlns:a="http://schemas.openxmlformats.org/drawingml/2006/main" prst="roundRect">
            <a:avLst>
              <a:gd name="adj" fmla="val 423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 cmpd="sng">
            <a:solidFill>
              <a:srgbClr val="2A2A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>
            <a:extLst xmlns:a="http://schemas.openxmlformats.org/drawingml/2006/main">
              <a:ext uri="{FF2B5EF4-FFF2-40B4-BE49-F238E27FC236}">
                <a16:creationId xmlns:a16="http://schemas.microsoft.com/office/drawing/2014/main" id="{8445E042-173A-49BF-B9CD-EB6DC7F4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2991637"/>
            <a:ext cx="6238875" cy="1735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7115"/>
              </a:lnSpc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ts val="1725"/>
              <a:buFont typeface="Courier New"/>
              <a:buNone/>
            </a:pPr>
            <a:r>
              <a:rPr sz="1725" b="0" i="1" u="none" cap="none">
                <a:solidFill>
                  <a:srgbClr val="7C7C7C"/>
                </a:solidFill>
                <a:latin typeface="Courier New"/>
                <a:ea typeface="Courier New"/>
                <a:cs typeface="Courier New"/>
              </a:rPr>
              <a:t>console.log("5" + 3);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7115"/>
              </a:lnSpc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ts val="1725"/>
              <a:buFont typeface="Courier New"/>
              <a:buNone/>
            </a:pPr>
            <a:r>
              <a:rPr sz="1725" b="0" i="1" u="none" cap="none">
                <a:solidFill>
                  <a:srgbClr val="7C7C7C"/>
                </a:solidFill>
                <a:latin typeface="Courier New"/>
                <a:ea typeface="Courier New"/>
                <a:cs typeface="Courier New"/>
              </a:rPr>
              <a:t>console.log("5" - 3);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3" name="Google Shape;183;p11">
            <a:extLst xmlns:a="http://schemas.openxmlformats.org/drawingml/2006/main">
              <a:ext uri="{FF2B5EF4-FFF2-40B4-BE49-F238E27FC236}">
                <a16:creationId xmlns:a16="http://schemas.microsoft.com/office/drawing/2014/main" id="{63A77C70-D2BD-4CA5-B04B-39D427A1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63364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">
            <a:extLst xmlns:a="http://schemas.openxmlformats.org/drawingml/2006/main">
              <a:ext uri="{FF2B5EF4-FFF2-40B4-BE49-F238E27FC236}">
                <a16:creationId xmlns:a16="http://schemas.microsoft.com/office/drawing/2014/main" id="{A21020C2-6C43-49B6-8738-8ABF751C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475589"/>
            <a:ext cx="3349526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84627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SEMANA 12 · CIERRE DE BRECHAS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5" name="Google Shape;185;p11">
            <a:extLst xmlns:a="http://schemas.openxmlformats.org/drawingml/2006/main">
              <a:ext uri="{FF2B5EF4-FFF2-40B4-BE49-F238E27FC236}">
                <a16:creationId xmlns:a16="http://schemas.microsoft.com/office/drawing/2014/main" id="{453FFF9F-ED4F-4525-A3D3-E80845A8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0019" y="9475589"/>
            <a:ext cx="313581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06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96100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FEA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2" name="Google Shape;242;p14">
            <a:extLst xmlns:a="http://schemas.openxmlformats.org/drawingml/2006/main">
              <a:ext uri="{FF2B5EF4-FFF2-40B4-BE49-F238E27FC236}">
                <a16:creationId xmlns:a16="http://schemas.microsoft.com/office/drawing/2014/main" id="{C7116787-28EB-4FF7-8361-4E529618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625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4">
            <a:extLst xmlns:a="http://schemas.openxmlformats.org/drawingml/2006/main">
              <a:ext uri="{FF2B5EF4-FFF2-40B4-BE49-F238E27FC236}">
                <a16:creationId xmlns:a16="http://schemas.microsoft.com/office/drawing/2014/main" id="{6B30DD44-2C14-48D4-990A-7137F378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6300"/>
            <a:ext cx="8446666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BLOQUE 2 · DOM Y EVENTOS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4" name="Google Shape;244;p14">
            <a:extLst xmlns:a="http://schemas.openxmlformats.org/drawingml/2006/main">
              <a:ext uri="{FF2B5EF4-FFF2-40B4-BE49-F238E27FC236}">
                <a16:creationId xmlns:a16="http://schemas.microsoft.com/office/drawing/2014/main" id="{B38AA485-A17E-40BE-9A2A-1C3C923A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40061"/>
            <a:ext cx="17937480" cy="582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445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8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sz="4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Contar, filtrar y persistir tareas_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5" name="Google Shape;245;p14">
            <a:extLst xmlns:a="http://schemas.openxmlformats.org/drawingml/2006/main">
              <a:ext uri="{FF2B5EF4-FFF2-40B4-BE49-F238E27FC236}">
                <a16:creationId xmlns:a16="http://schemas.microsoft.com/office/drawing/2014/main" id="{CCC08079-17AF-4929-8388-F42479AE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12699"/>
            <a:ext cx="9391650" cy="2589312"/>
          </a:xfrm>
          <a:prstGeom xmlns:a="http://schemas.openxmlformats.org/drawingml/2006/main" prst="roundRect">
            <a:avLst>
              <a:gd name="adj" fmla="val 367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 cmpd="sng">
            <a:solidFill>
              <a:srgbClr val="2A2A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4">
            <a:extLst xmlns:a="http://schemas.openxmlformats.org/drawingml/2006/main">
              <a:ext uri="{FF2B5EF4-FFF2-40B4-BE49-F238E27FC236}">
                <a16:creationId xmlns:a16="http://schemas.microsoft.com/office/drawing/2014/main" id="{ACFC6EE0-4E92-47C8-8C77-E8C0B9F3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488924"/>
            <a:ext cx="9044750" cy="2074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7115"/>
              </a:lnSpc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ts val="1725"/>
              <a:buFont typeface="Courier New"/>
              <a:buNone/>
            </a:pPr>
            <a:r>
              <a:rPr sz="1725" b="0" i="1" u="none" cap="none">
                <a:solidFill>
                  <a:srgbClr val="7C7C7C"/>
                </a:solidFill>
                <a:latin typeface="Courier New"/>
                <a:ea typeface="Courier New"/>
                <a:cs typeface="Courier New"/>
              </a:rPr>
              <a:t>const tareas = document.querySelectorAll('.tarea');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7115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725"/>
              <a:buFont typeface="Courier New"/>
              <a:buNone/>
            </a:pPr>
            <a:r>
              <a:rPr sz="1725" b="0" i="0" u="none" cap="none">
                <a:solidFill>
                  <a:srgbClr val="E6E6E6"/>
                </a:solidFill>
                <a:highlight>
                  <a:srgbClr val="141414"/>
                </a:highlight>
                <a:latin typeface="Courier New"/>
                <a:ea typeface="Courier New"/>
                <a:cs typeface="Courier New"/>
              </a:rPr>
              <a:t>const pendientes = [...tareas].filter(t =&gt; !t.classList.contains('completada'));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7" name="Google Shape;247;p14">
            <a:extLst xmlns:a="http://schemas.openxmlformats.org/drawingml/2006/main">
              <a:ext uri="{FF2B5EF4-FFF2-40B4-BE49-F238E27FC236}">
                <a16:creationId xmlns:a16="http://schemas.microsoft.com/office/drawing/2014/main" id="{0AAC7021-4B40-4A63-B764-378E8618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5361"/>
            <a:ext cx="9391650" cy="2249835"/>
          </a:xfrm>
          <a:prstGeom xmlns:a="http://schemas.openxmlformats.org/drawingml/2006/main" prst="roundRect">
            <a:avLst>
              <a:gd name="adj" fmla="val 423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 cmpd="sng">
            <a:solidFill>
              <a:srgbClr val="2A2A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4">
            <a:extLst xmlns:a="http://schemas.openxmlformats.org/drawingml/2006/main">
              <a:ext uri="{FF2B5EF4-FFF2-40B4-BE49-F238E27FC236}">
                <a16:creationId xmlns:a16="http://schemas.microsoft.com/office/drawing/2014/main" id="{87F81AF7-D6C7-4E6D-878E-70BCFEAF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211586"/>
            <a:ext cx="9044750" cy="1735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7115"/>
              </a:lnSpc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ts val="1725"/>
              <a:buFont typeface="Courier New"/>
              <a:buNone/>
            </a:pPr>
            <a:r>
              <a:rPr sz="1725" b="0" i="1" u="none" cap="none">
                <a:solidFill>
                  <a:srgbClr val="7C7C7C"/>
                </a:solidFill>
                <a:latin typeface="Courier New"/>
                <a:ea typeface="Courier New"/>
                <a:cs typeface="Courier New"/>
              </a:rPr>
              <a:t>localStorage.setItem('tareas', JSON.stringify(datos));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7115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725"/>
              <a:buFont typeface="Courier New"/>
              <a:buNone/>
            </a:pPr>
            <a:r>
              <a:rPr sz="1725" b="0" i="0" u="none" cap="none">
                <a:solidFill>
                  <a:srgbClr val="E6E6E6"/>
                </a:solidFill>
                <a:highlight>
                  <a:srgbClr val="141414"/>
                </a:highlight>
                <a:latin typeface="Courier New"/>
                <a:ea typeface="Courier New"/>
                <a:cs typeface="Courier New"/>
              </a:rPr>
              <a:t>const guardadas = JSON.parse(localStorage.getItem('tareas') || '[]');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9" name="Google Shape;249;p14">
            <a:extLst xmlns:a="http://schemas.openxmlformats.org/drawingml/2006/main">
              <a:ext uri="{FF2B5EF4-FFF2-40B4-BE49-F238E27FC236}">
                <a16:creationId xmlns:a16="http://schemas.microsoft.com/office/drawing/2014/main" id="{0C36C7E7-2829-44CF-865D-80216210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212699"/>
            <a:ext cx="6667500" cy="3996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4">
            <a:extLst xmlns:a="http://schemas.openxmlformats.org/drawingml/2006/main">
              <a:ext uri="{FF2B5EF4-FFF2-40B4-BE49-F238E27FC236}">
                <a16:creationId xmlns:a16="http://schemas.microsoft.com/office/drawing/2014/main" id="{CAE96AC6-10CC-4657-8273-5D3DE607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565124"/>
            <a:ext cx="6517005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F7E08"/>
                </a:solidFill>
                <a:latin typeface="Arial"/>
                <a:ea typeface="Arial"/>
                <a:cs typeface="Arial"/>
              </a:rPr>
              <a:t>CUATRO CHECKPOINTS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1" name="Google Shape;251;p14">
            <a:extLst xmlns:a="http://schemas.openxmlformats.org/drawingml/2006/main">
              <a:ext uri="{FF2B5EF4-FFF2-40B4-BE49-F238E27FC236}">
                <a16:creationId xmlns:a16="http://schemas.microsoft.com/office/drawing/2014/main" id="{753A59A6-22F6-43C3-AF10-B4AB8652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033635"/>
            <a:ext cx="1362075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7351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7778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1800"/>
              <a:buFont typeface="Courier New"/>
              <a:buNone/>
            </a:pPr>
            <a:r>
              <a:rPr sz="1800" b="0" i="0" u="none" cap="none">
                <a:solidFill>
                  <a:srgbClr val="FF7E08"/>
                </a:solidFill>
                <a:latin typeface="Courier New"/>
                <a:ea typeface="Courier New"/>
                <a:cs typeface="Courier New"/>
              </a:rPr>
              <a:t>querySelector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2" name="Google Shape;252;p14">
            <a:extLst xmlns:a="http://schemas.openxmlformats.org/drawingml/2006/main">
              <a:ext uri="{FF2B5EF4-FFF2-40B4-BE49-F238E27FC236}">
                <a16:creationId xmlns:a16="http://schemas.microsoft.com/office/drawing/2014/main" id="{EE7510B9-5F66-4295-BAA5-D37B1E2B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3062210"/>
            <a:ext cx="4669917" cy="6295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sz="17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Selecciona el primer elemento que coincide.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3" name="Google Shape;253;p14">
            <a:extLst xmlns:a="http://schemas.openxmlformats.org/drawingml/2006/main">
              <a:ext uri="{FF2B5EF4-FFF2-40B4-BE49-F238E27FC236}">
                <a16:creationId xmlns:a16="http://schemas.microsoft.com/office/drawing/2014/main" id="{18A71DE6-04E2-4464-A1FB-32CF0D6A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67953"/>
            <a:ext cx="1362075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59627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7778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1800"/>
              <a:buFont typeface="Courier New"/>
              <a:buNone/>
            </a:pPr>
            <a:r>
              <a:rPr sz="1800" b="0" i="0" u="none" cap="none">
                <a:solidFill>
                  <a:srgbClr val="FF7E08"/>
                </a:solidFill>
                <a:latin typeface="Courier New"/>
                <a:ea typeface="Courier New"/>
                <a:cs typeface="Courier New"/>
              </a:rPr>
              <a:t>querySelectorAll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4" name="Google Shape;254;p14">
            <a:extLst xmlns:a="http://schemas.openxmlformats.org/drawingml/2006/main">
              <a:ext uri="{FF2B5EF4-FFF2-40B4-BE49-F238E27FC236}">
                <a16:creationId xmlns:a16="http://schemas.microsoft.com/office/drawing/2014/main" id="{F370CB2B-F74D-4988-A3B4-DFC5EE30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3796528"/>
            <a:ext cx="4669917" cy="6295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sz="17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Devuelve una colección de coincidencias.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5" name="Google Shape;255;p14">
            <a:extLst xmlns:a="http://schemas.openxmlformats.org/drawingml/2006/main">
              <a:ext uri="{FF2B5EF4-FFF2-40B4-BE49-F238E27FC236}">
                <a16:creationId xmlns:a16="http://schemas.microsoft.com/office/drawing/2014/main" id="{24781CCF-E6FC-4A72-A36C-E9FD0873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02271"/>
            <a:ext cx="1362075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67681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7778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1800"/>
              <a:buFont typeface="Courier New"/>
              <a:buNone/>
            </a:pPr>
            <a:r>
              <a:rPr sz="1800" b="0" i="0" u="none" cap="none">
                <a:solidFill>
                  <a:srgbClr val="FF7E08"/>
                </a:solidFill>
                <a:latin typeface="Courier New"/>
                <a:ea typeface="Courier New"/>
                <a:cs typeface="Courier New"/>
              </a:rPr>
              <a:t>preventDefault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6" name="Google Shape;256;p14">
            <a:extLst xmlns:a="http://schemas.openxmlformats.org/drawingml/2006/main">
              <a:ext uri="{FF2B5EF4-FFF2-40B4-BE49-F238E27FC236}">
                <a16:creationId xmlns:a16="http://schemas.microsoft.com/office/drawing/2014/main" id="{44266B0B-548B-4BB7-9CB8-11276B53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4530846"/>
            <a:ext cx="4669917" cy="6295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571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sz="17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Evita el comportamiento automático del formulario.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7" name="Google Shape;257;p14">
            <a:extLst xmlns:a="http://schemas.openxmlformats.org/drawingml/2006/main">
              <a:ext uri="{FF2B5EF4-FFF2-40B4-BE49-F238E27FC236}">
                <a16:creationId xmlns:a16="http://schemas.microsoft.com/office/drawing/2014/main" id="{1C241D58-ED5B-4605-B58C-2331F4A2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5236589"/>
            <a:ext cx="1362075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8736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7778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1800"/>
              <a:buFont typeface="Courier New"/>
              <a:buNone/>
            </a:pPr>
            <a:r>
              <a:rPr sz="1800" b="0" i="0" u="none" cap="none">
                <a:solidFill>
                  <a:srgbClr val="FF7E08"/>
                </a:solidFill>
                <a:latin typeface="Courier New"/>
                <a:ea typeface="Courier New"/>
                <a:cs typeface="Courier New"/>
              </a:rPr>
              <a:t>textContent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8" name="Google Shape;258;p14">
            <a:extLst xmlns:a="http://schemas.openxmlformats.org/drawingml/2006/main">
              <a:ext uri="{FF2B5EF4-FFF2-40B4-BE49-F238E27FC236}">
                <a16:creationId xmlns:a16="http://schemas.microsoft.com/office/drawing/2014/main" id="{B256B3C5-3AB9-4F3B-BA98-B448920A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5265164"/>
            <a:ext cx="4669917" cy="6295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sz="17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Actualiza texto sin interpretar HTML.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9" name="Google Shape;259;p14">
            <a:extLst xmlns:a="http://schemas.openxmlformats.org/drawingml/2006/main">
              <a:ext uri="{FF2B5EF4-FFF2-40B4-BE49-F238E27FC236}">
                <a16:creationId xmlns:a16="http://schemas.microsoft.com/office/drawing/2014/main" id="{A1A56AE9-F310-457F-986F-73BBF41D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42382"/>
            <a:ext cx="6667500" cy="213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4">
            <a:extLst xmlns:a="http://schemas.openxmlformats.org/drawingml/2006/main">
              <a:ext uri="{FF2B5EF4-FFF2-40B4-BE49-F238E27FC236}">
                <a16:creationId xmlns:a16="http://schemas.microsoft.com/office/drawing/2014/main" id="{724F9730-A023-4528-94EC-CB84446D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694807"/>
            <a:ext cx="6517005" cy="421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6064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sz="195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ERROR COMÚN</a:t>
            </a:r>
            <a:endParaRPr sz="1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1" name="Google Shape;261;p14">
            <a:extLst xmlns:a="http://schemas.openxmlformats.org/drawingml/2006/main">
              <a:ext uri="{FF2B5EF4-FFF2-40B4-BE49-F238E27FC236}">
                <a16:creationId xmlns:a16="http://schemas.microsoft.com/office/drawing/2014/main" id="{6FEADE01-8388-4507-BBFC-BF5DEE83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7154835"/>
            <a:ext cx="6102287" cy="1011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1714"/>
              </a:lnSpc>
              <a:spcBef>
                <a:spcPts val="0"/>
              </a:spcBef>
              <a:spcAft>
                <a:spcPts val="0"/>
              </a:spcAft>
              <a:buClr>
                <a:srgbClr val="E2DCD3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E2DCD3"/>
                </a:solidFill>
                <a:latin typeface="Arial"/>
                <a:ea typeface="Arial"/>
                <a:cs typeface="Arial"/>
              </a:rPr>
              <a:t>Leer el input, pero no limpiar ni guardar el nuevo estado.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2" name="Google Shape;262;p14">
            <a:extLst xmlns:a="http://schemas.openxmlformats.org/drawingml/2006/main">
              <a:ext uri="{FF2B5EF4-FFF2-40B4-BE49-F238E27FC236}">
                <a16:creationId xmlns:a16="http://schemas.microsoft.com/office/drawing/2014/main" id="{E3F4CE33-D1B8-4ED8-9014-CD6931A9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63364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4">
            <a:extLst xmlns:a="http://schemas.openxmlformats.org/drawingml/2006/main">
              <a:ext uri="{FF2B5EF4-FFF2-40B4-BE49-F238E27FC236}">
                <a16:creationId xmlns:a16="http://schemas.microsoft.com/office/drawing/2014/main" id="{95B31BEB-DF07-4B2F-AE46-E7CBBB3D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475589"/>
            <a:ext cx="3349526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84627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SEMANA 12 · CIERRE DE BRECHAS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4" name="Google Shape;264;p14">
            <a:extLst xmlns:a="http://schemas.openxmlformats.org/drawingml/2006/main">
              <a:ext uri="{FF2B5EF4-FFF2-40B4-BE49-F238E27FC236}">
                <a16:creationId xmlns:a16="http://schemas.microsoft.com/office/drawing/2014/main" id="{ABEF99A2-142E-466E-B095-FBFA9C29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3053" y="9475589"/>
            <a:ext cx="330547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07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7269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FEA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5" name="Google Shape;285;p16">
            <a:extLst xmlns:a="http://schemas.openxmlformats.org/drawingml/2006/main">
              <a:ext uri="{FF2B5EF4-FFF2-40B4-BE49-F238E27FC236}">
                <a16:creationId xmlns:a16="http://schemas.microsoft.com/office/drawing/2014/main" id="{86662324-A1DC-41E7-AF4C-36BBD471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625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6">
            <a:extLst xmlns:a="http://schemas.openxmlformats.org/drawingml/2006/main">
              <a:ext uri="{FF2B5EF4-FFF2-40B4-BE49-F238E27FC236}">
                <a16:creationId xmlns:a16="http://schemas.microsoft.com/office/drawing/2014/main" id="{B4A67701-D81D-46A2-A8E8-7D7C905D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6300"/>
            <a:ext cx="9290105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BLOQUE 3 · GRID, FLEX Y TAILWIND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7" name="Google Shape;287;p16">
            <a:extLst xmlns:a="http://schemas.openxmlformats.org/drawingml/2006/main">
              <a:ext uri="{FF2B5EF4-FFF2-40B4-BE49-F238E27FC236}">
                <a16:creationId xmlns:a16="http://schemas.microsoft.com/office/drawing/2014/main" id="{EA32759D-7429-43E1-8257-9A18C59D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21011"/>
            <a:ext cx="17937480" cy="582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445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8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sz="4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Una dimensión vs. filas y columnas_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8" name="Google Shape;288;p16">
            <a:extLst xmlns:a="http://schemas.openxmlformats.org/drawingml/2006/main">
              <a:ext uri="{FF2B5EF4-FFF2-40B4-BE49-F238E27FC236}">
                <a16:creationId xmlns:a16="http://schemas.microsoft.com/office/drawing/2014/main" id="{B6C7BFCB-38FE-442C-8A87-25562A02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4558"/>
            <a:ext cx="10534650" cy="2124075"/>
          </a:xfrm>
          <a:prstGeom xmlns:a="http://schemas.openxmlformats.org/drawingml/2006/main" prst="roundRect">
            <a:avLst>
              <a:gd name="adj" fmla="val 448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 cmpd="sng">
            <a:solidFill>
              <a:srgbClr val="2A2A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6">
            <a:extLst xmlns:a="http://schemas.openxmlformats.org/drawingml/2006/main">
              <a:ext uri="{FF2B5EF4-FFF2-40B4-BE49-F238E27FC236}">
                <a16:creationId xmlns:a16="http://schemas.microsoft.com/office/drawing/2014/main" id="{FC949F2C-9C78-4C5D-BD3E-6FC6221B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450783"/>
            <a:ext cx="1022204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ts val="1650"/>
              <a:buFont typeface="Courier New"/>
              <a:buNone/>
            </a:pPr>
            <a:r>
              <a:rPr sz="1650" b="0" i="1" u="none" cap="none">
                <a:solidFill>
                  <a:srgbClr val="7C7C7C"/>
                </a:solidFill>
                <a:latin typeface="Courier New"/>
                <a:ea typeface="Courier New"/>
                <a:cs typeface="Courier New"/>
              </a:rPr>
              <a:t>.contenedor {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ts val="1650"/>
              <a:buFont typeface="Courier New"/>
              <a:buNone/>
            </a:pPr>
            <a:r>
              <a:rPr sz="1650" b="0" i="1" u="none" cap="none">
                <a:solidFill>
                  <a:srgbClr val="7C7C7C"/>
                </a:solidFill>
                <a:latin typeface="Courier New"/>
                <a:ea typeface="Courier New"/>
                <a:cs typeface="Courier New"/>
              </a:rPr>
              <a:t>  display: flex;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ts val="1650"/>
              <a:buFont typeface="Courier New"/>
              <a:buNone/>
            </a:pPr>
            <a:r>
              <a:rPr sz="1650" b="0" i="1" u="none" cap="none">
                <a:solidFill>
                  <a:srgbClr val="7C7C7C"/>
                </a:solidFill>
                <a:latin typeface="Courier New"/>
                <a:ea typeface="Courier New"/>
                <a:cs typeface="Courier New"/>
              </a:rPr>
              <a:t>  gap: 1rem;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ts val="1650"/>
              <a:buFont typeface="Courier New"/>
              <a:buNone/>
            </a:pPr>
            <a:r>
              <a:rPr sz="1650" b="0" i="1" u="none" cap="none">
                <a:solidFill>
                  <a:srgbClr val="7C7C7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0" name="Google Shape;290;p16">
            <a:extLst xmlns:a="http://schemas.openxmlformats.org/drawingml/2006/main">
              <a:ext uri="{FF2B5EF4-FFF2-40B4-BE49-F238E27FC236}">
                <a16:creationId xmlns:a16="http://schemas.microsoft.com/office/drawing/2014/main" id="{56DB1577-E25F-4EFA-844B-FE712CB9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2934"/>
            <a:ext cx="10534650" cy="4324350"/>
          </a:xfrm>
          <a:prstGeom xmlns:a="http://schemas.openxmlformats.org/drawingml/2006/main" prst="roundRect">
            <a:avLst>
              <a:gd name="adj" fmla="val 220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 cmpd="sng">
            <a:solidFill>
              <a:srgbClr val="2A2A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6">
            <a:extLst xmlns:a="http://schemas.openxmlformats.org/drawingml/2006/main">
              <a:ext uri="{FF2B5EF4-FFF2-40B4-BE49-F238E27FC236}">
                <a16:creationId xmlns:a16="http://schemas.microsoft.com/office/drawing/2014/main" id="{4DFD0DD8-F65D-4297-85FD-ADC5CB11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689159"/>
            <a:ext cx="1022204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FF9B52"/>
                </a:solidFill>
                <a:latin typeface="Courier New"/>
                <a:ea typeface="Courier New"/>
                <a:cs typeface="Courier New"/>
              </a:rPr>
              <a:t>.galeria {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E6E6E6"/>
                </a:solidFill>
                <a:highlight>
                  <a:srgbClr val="141414"/>
                </a:highlight>
                <a:latin typeface="Courier New"/>
                <a:ea typeface="Courier New"/>
                <a:cs typeface="Courier New"/>
              </a:rPr>
              <a:t>  display: grid;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C3A6FF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C3A6FF"/>
                </a:solidFill>
                <a:latin typeface="Courier New"/>
                <a:ea typeface="Courier New"/>
                <a:cs typeface="Courier New"/>
              </a:rPr>
              <a:t>  grid-template-columns: repeat(3, 1fr);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E6E6E6"/>
                </a:solidFill>
                <a:highlight>
                  <a:srgbClr val="141414"/>
                </a:highlight>
                <a:latin typeface="Courier New"/>
                <a:ea typeface="Courier New"/>
                <a:cs typeface="Courier New"/>
              </a:rPr>
              <a:t>}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FF9B52"/>
                </a:solidFill>
                <a:latin typeface="Courier New"/>
                <a:ea typeface="Courier New"/>
                <a:cs typeface="Courier New"/>
              </a:rPr>
              <a:t>/* Tailwind: grid md:grid-cols-3 gap-4 */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2" name="Google Shape;292;p16">
            <a:extLst xmlns:a="http://schemas.openxmlformats.org/drawingml/2006/main">
              <a:ext uri="{FF2B5EF4-FFF2-40B4-BE49-F238E27FC236}">
                <a16:creationId xmlns:a16="http://schemas.microsoft.com/office/drawing/2014/main" id="{8897E786-FD6A-4AA6-93D3-3D9BF430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174558"/>
            <a:ext cx="5524500" cy="3246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6">
            <a:extLst xmlns:a="http://schemas.openxmlformats.org/drawingml/2006/main">
              <a:ext uri="{FF2B5EF4-FFF2-40B4-BE49-F238E27FC236}">
                <a16:creationId xmlns:a16="http://schemas.microsoft.com/office/drawing/2014/main" id="{8F9CA4CE-552A-457D-AFAA-B4326F5D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2517459"/>
            <a:ext cx="5280660" cy="421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6064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sz="195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PREGUNTA DE CONTROL</a:t>
            </a:r>
            <a:endParaRPr sz="1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4" name="Google Shape;294;p16">
            <a:extLst xmlns:a="http://schemas.openxmlformats.org/drawingml/2006/main">
              <a:ext uri="{FF2B5EF4-FFF2-40B4-BE49-F238E27FC236}">
                <a16:creationId xmlns:a16="http://schemas.microsoft.com/office/drawing/2014/main" id="{B620A20B-421A-4B11-AC72-CCD049BD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2996536"/>
            <a:ext cx="4944618" cy="2119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sz="187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¿Qué crea repeat(3, 1fr)?</a:t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5" name="Google Shape;295;p16">
            <a:extLst xmlns:a="http://schemas.openxmlformats.org/drawingml/2006/main">
              <a:ext uri="{FF2B5EF4-FFF2-40B4-BE49-F238E27FC236}">
                <a16:creationId xmlns:a16="http://schemas.microsoft.com/office/drawing/2014/main" id="{48A97535-16E5-4792-BB9A-8F0DAD76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5573049"/>
            <a:ext cx="5524500" cy="1719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6">
            <a:extLst xmlns:a="http://schemas.openxmlformats.org/drawingml/2006/main">
              <a:ext uri="{FF2B5EF4-FFF2-40B4-BE49-F238E27FC236}">
                <a16:creationId xmlns:a16="http://schemas.microsoft.com/office/drawing/2014/main" id="{3D08D34D-11BC-4931-97CF-B0073776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5925474"/>
            <a:ext cx="4924997" cy="1052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545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24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Courier New"/>
              <a:buNone/>
            </a:pPr>
            <a:r>
              <a:rPr sz="1875" b="0" i="0" u="none" cap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Tres columnas del mismo ancho. En móvil, inicia con una columna y aumenta por breakpoint.</a:t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7" name="Google Shape;297;p16">
            <a:extLst xmlns:a="http://schemas.openxmlformats.org/drawingml/2006/main">
              <a:ext uri="{FF2B5EF4-FFF2-40B4-BE49-F238E27FC236}">
                <a16:creationId xmlns:a16="http://schemas.microsoft.com/office/drawing/2014/main" id="{44F7627D-4DE1-4D55-91CB-AA44387F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63364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6">
            <a:extLst xmlns:a="http://schemas.openxmlformats.org/drawingml/2006/main">
              <a:ext uri="{FF2B5EF4-FFF2-40B4-BE49-F238E27FC236}">
                <a16:creationId xmlns:a16="http://schemas.microsoft.com/office/drawing/2014/main" id="{09AEC1AB-D01B-4F18-B67D-83E3F824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475589"/>
            <a:ext cx="3349526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84627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SEMANA 12 · CIERRE DE BRECHAS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9" name="Google Shape;299;p16">
            <a:extLst xmlns:a="http://schemas.openxmlformats.org/drawingml/2006/main">
              <a:ext uri="{FF2B5EF4-FFF2-40B4-BE49-F238E27FC236}">
                <a16:creationId xmlns:a16="http://schemas.microsoft.com/office/drawing/2014/main" id="{9852AB81-69FB-4058-828D-ED94A09E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3053" y="9475589"/>
            <a:ext cx="330547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08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54710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FEA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5" name="Google Shape;305;p17">
            <a:extLst xmlns:a="http://schemas.openxmlformats.org/drawingml/2006/main">
              <a:ext uri="{FF2B5EF4-FFF2-40B4-BE49-F238E27FC236}">
                <a16:creationId xmlns:a16="http://schemas.microsoft.com/office/drawing/2014/main" id="{489F2BF0-1CBF-4879-88B5-7CDD6071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625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7">
            <a:extLst xmlns:a="http://schemas.openxmlformats.org/drawingml/2006/main">
              <a:ext uri="{FF2B5EF4-FFF2-40B4-BE49-F238E27FC236}">
                <a16:creationId xmlns:a16="http://schemas.microsoft.com/office/drawing/2014/main" id="{017B4915-CAD4-4F58-9F3F-0975E614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6300"/>
            <a:ext cx="9584948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BLOQUE 4 · PUBLICACIÓN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7" name="Google Shape;307;p17">
            <a:extLst xmlns:a="http://schemas.openxmlformats.org/drawingml/2006/main">
              <a:ext uri="{FF2B5EF4-FFF2-40B4-BE49-F238E27FC236}">
                <a16:creationId xmlns:a16="http://schemas.microsoft.com/office/drawing/2014/main" id="{1379A89C-FFC9-43F1-B2E9-1D530EED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21011"/>
            <a:ext cx="17937480" cy="582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445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8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sz="4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Publicar también es verificar_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8" name="Google Shape;308;p17">
            <a:extLst xmlns:a="http://schemas.openxmlformats.org/drawingml/2006/main">
              <a:ext uri="{FF2B5EF4-FFF2-40B4-BE49-F238E27FC236}">
                <a16:creationId xmlns:a16="http://schemas.microsoft.com/office/drawing/2014/main" id="{256F3FD1-1A8B-40AF-B404-F37428EE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9309"/>
            <a:ext cx="14912340" cy="776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3621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75"/>
              <a:buFont typeface="Arial"/>
              <a:buNone/>
            </a:pPr>
            <a:r>
              <a:t/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9" name="Google Shape;309;p17">
            <a:extLst xmlns:a="http://schemas.openxmlformats.org/drawingml/2006/main">
              <a:ext uri="{FF2B5EF4-FFF2-40B4-BE49-F238E27FC236}">
                <a16:creationId xmlns:a16="http://schemas.microsoft.com/office/drawing/2014/main" id="{25BA4A75-334B-4A29-8927-CBFA1F05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37329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7">
            <a:extLst xmlns:a="http://schemas.openxmlformats.org/drawingml/2006/main">
              <a:ext uri="{FF2B5EF4-FFF2-40B4-BE49-F238E27FC236}">
                <a16:creationId xmlns:a16="http://schemas.microsoft.com/office/drawing/2014/main" id="{B73963A9-AB66-4CF1-A299-530A6A1B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37329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311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sz="16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1" name="Google Shape;311;p17">
            <a:extLst xmlns:a="http://schemas.openxmlformats.org/drawingml/2006/main">
              <a:ext uri="{FF2B5EF4-FFF2-40B4-BE49-F238E27FC236}">
                <a16:creationId xmlns:a16="http://schemas.microsoft.com/office/drawing/2014/main" id="{0EA4E4CC-BDEB-48FB-8E58-429C3709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27358"/>
            <a:ext cx="2714982" cy="421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6064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sz="195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GitHub Pages</a:t>
            </a:r>
            <a:endParaRPr sz="1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2" name="Google Shape;312;p17">
            <a:extLst xmlns:a="http://schemas.openxmlformats.org/drawingml/2006/main">
              <a:ext uri="{FF2B5EF4-FFF2-40B4-BE49-F238E27FC236}">
                <a16:creationId xmlns:a16="http://schemas.microsoft.com/office/drawing/2014/main" id="{DE2B7E76-34D8-4B09-8742-0E798B92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51679"/>
            <a:ext cx="8029575" cy="2124075"/>
          </a:xfrm>
          <a:prstGeom xmlns:a="http://schemas.openxmlformats.org/drawingml/2006/main" prst="roundRect">
            <a:avLst>
              <a:gd name="adj" fmla="val 448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 cmpd="sng">
            <a:solidFill>
              <a:srgbClr val="2A2A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7">
            <a:extLst xmlns:a="http://schemas.openxmlformats.org/drawingml/2006/main">
              <a:ext uri="{FF2B5EF4-FFF2-40B4-BE49-F238E27FC236}">
                <a16:creationId xmlns:a16="http://schemas.microsoft.com/office/drawing/2014/main" id="{CC78E11F-39C1-4F60-BDEE-A0680F74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827904"/>
            <a:ext cx="7641812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FF9B52"/>
                </a:solidFill>
                <a:latin typeface="Courier New"/>
                <a:ea typeface="Courier New"/>
                <a:cs typeface="Courier New"/>
              </a:rPr>
              <a:t>git add .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FF9B52"/>
                </a:solidFill>
                <a:latin typeface="Courier New"/>
                <a:ea typeface="Courier New"/>
                <a:cs typeface="Courier New"/>
              </a:rPr>
              <a:t>git commit -m "cierre de brechas"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FF9B52"/>
                </a:solidFill>
                <a:latin typeface="Courier New"/>
                <a:ea typeface="Courier New"/>
                <a:cs typeface="Courier New"/>
              </a:rPr>
              <a:t>git push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4" name="Google Shape;314;p17">
            <a:extLst xmlns:a="http://schemas.openxmlformats.org/drawingml/2006/main">
              <a:ext uri="{FF2B5EF4-FFF2-40B4-BE49-F238E27FC236}">
                <a16:creationId xmlns:a16="http://schemas.microsoft.com/office/drawing/2014/main" id="{4A2E763E-CBDF-4095-9376-D8577D25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7056" y="2532180"/>
            <a:ext cx="400200" cy="4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7">
            <a:extLst xmlns:a="http://schemas.openxmlformats.org/drawingml/2006/main">
              <a:ext uri="{FF2B5EF4-FFF2-40B4-BE49-F238E27FC236}">
                <a16:creationId xmlns:a16="http://schemas.microsoft.com/office/drawing/2014/main" id="{9A594A21-0919-4225-8594-3BF1E06D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558304"/>
            <a:ext cx="476400" cy="4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311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sz="16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6" name="Google Shape;316;p17">
            <a:extLst xmlns:a="http://schemas.openxmlformats.org/drawingml/2006/main">
              <a:ext uri="{FF2B5EF4-FFF2-40B4-BE49-F238E27FC236}">
                <a16:creationId xmlns:a16="http://schemas.microsoft.com/office/drawing/2014/main" id="{1648AC23-BA0C-46B4-89F0-4751DDA5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750" y="2566421"/>
            <a:ext cx="3271200" cy="4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6031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sz="195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Netlify</a:t>
            </a:r>
            <a:endParaRPr sz="1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7" name="Google Shape;317;p17">
            <a:extLst xmlns:a="http://schemas.openxmlformats.org/drawingml/2006/main">
              <a:ext uri="{FF2B5EF4-FFF2-40B4-BE49-F238E27FC236}">
                <a16:creationId xmlns:a16="http://schemas.microsoft.com/office/drawing/2014/main" id="{4079EFBE-D3D4-4C8A-8750-FF7CF6B2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7050" y="3187699"/>
            <a:ext cx="8029500" cy="6882300"/>
          </a:xfrm>
          <a:prstGeom xmlns:a="http://schemas.openxmlformats.org/drawingml/2006/main" prst="roundRect">
            <a:avLst>
              <a:gd name="adj" fmla="val 1808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 cmpd="sng">
            <a:solidFill>
              <a:srgbClr val="2A2A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7">
            <a:extLst xmlns:a="http://schemas.openxmlformats.org/drawingml/2006/main">
              <a:ext uri="{FF2B5EF4-FFF2-40B4-BE49-F238E27FC236}">
                <a16:creationId xmlns:a16="http://schemas.microsoft.com/office/drawing/2014/main" id="{80702D51-AFD1-4DA4-BB82-7E0B23EA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5525" y="3657204"/>
            <a:ext cx="7641900" cy="475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FF9B52"/>
                </a:solidFill>
                <a:latin typeface="Courier New"/>
                <a:ea typeface="Courier New"/>
                <a:cs typeface="Courier New"/>
              </a:rPr>
              <a:t>1. Sube la carpeta o conecta el repositorio.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E6E6E6"/>
                </a:solidFill>
                <a:highlight>
                  <a:srgbClr val="141414"/>
                </a:highlight>
                <a:latin typeface="Courier New"/>
                <a:ea typeface="Courier New"/>
                <a:cs typeface="Courier New"/>
              </a:rPr>
              <a:t>2. Obtén la URL pública.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C3A6FF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C3A6FF"/>
                </a:solidFill>
                <a:latin typeface="Courier New"/>
                <a:ea typeface="Courier New"/>
                <a:cs typeface="Courier New"/>
              </a:rPr>
              <a:t>3. Abre cada enlace.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C3A6FF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C3A6FF"/>
                </a:solidFill>
                <a:latin typeface="Courier New"/>
                <a:ea typeface="Courier New"/>
                <a:cs typeface="Courier New"/>
              </a:rPr>
              <a:t>4. Revisa la consola.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C3A6FF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C3A6FF"/>
                </a:solidFill>
                <a:latin typeface="Courier New"/>
                <a:ea typeface="Courier New"/>
                <a:cs typeface="Courier New"/>
              </a:rPr>
              <a:t>5. Prueba móvil y escritorio.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9" name="Google Shape;319;p17">
            <a:extLst xmlns:a="http://schemas.openxmlformats.org/drawingml/2006/main">
              <a:ext uri="{FF2B5EF4-FFF2-40B4-BE49-F238E27FC236}">
                <a16:creationId xmlns:a16="http://schemas.microsoft.com/office/drawing/2014/main" id="{C93D2541-E784-43B2-9907-F5F3D0D6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63364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7">
            <a:extLst xmlns:a="http://schemas.openxmlformats.org/drawingml/2006/main">
              <a:ext uri="{FF2B5EF4-FFF2-40B4-BE49-F238E27FC236}">
                <a16:creationId xmlns:a16="http://schemas.microsoft.com/office/drawing/2014/main" id="{CD5D632E-A8BF-4DF0-86D5-AE69A4CB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475589"/>
            <a:ext cx="3349526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84627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SEMANA 12 · CIERRE DE BRECHAS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1" name="Google Shape;321;p17">
            <a:extLst xmlns:a="http://schemas.openxmlformats.org/drawingml/2006/main">
              <a:ext uri="{FF2B5EF4-FFF2-40B4-BE49-F238E27FC236}">
                <a16:creationId xmlns:a16="http://schemas.microsoft.com/office/drawing/2014/main" id="{314E1535-5424-4379-82D9-116DD9BA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3053" y="9475589"/>
            <a:ext cx="330547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09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40263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FEA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7" name="Google Shape;327;p18">
            <a:extLst xmlns:a="http://schemas.openxmlformats.org/drawingml/2006/main">
              <a:ext uri="{FF2B5EF4-FFF2-40B4-BE49-F238E27FC236}">
                <a16:creationId xmlns:a16="http://schemas.microsoft.com/office/drawing/2014/main" id="{BC9F172E-E672-4AF0-ADDE-9D96FC9F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625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8">
            <a:extLst xmlns:a="http://schemas.openxmlformats.org/drawingml/2006/main">
              <a:ext uri="{FF2B5EF4-FFF2-40B4-BE49-F238E27FC236}">
                <a16:creationId xmlns:a16="http://schemas.microsoft.com/office/drawing/2014/main" id="{CAE97C99-E6AF-4471-BEB2-E9A528BB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6300"/>
            <a:ext cx="3862268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RETO INTEGRADOR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9" name="Google Shape;329;p18">
            <a:extLst xmlns:a="http://schemas.openxmlformats.org/drawingml/2006/main">
              <a:ext uri="{FF2B5EF4-FFF2-40B4-BE49-F238E27FC236}">
                <a16:creationId xmlns:a16="http://schemas.microsoft.com/office/drawing/2014/main" id="{29225963-8935-424E-8BB5-3DA91B33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21011"/>
            <a:ext cx="17937480" cy="582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445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8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sz="4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Cuatro temas, un mismo proyecto_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0" name="Google Shape;330;p18">
            <a:extLst xmlns:a="http://schemas.openxmlformats.org/drawingml/2006/main">
              <a:ext uri="{FF2B5EF4-FFF2-40B4-BE49-F238E27FC236}">
                <a16:creationId xmlns:a16="http://schemas.microsoft.com/office/drawing/2014/main" id="{782852C1-B1F8-42E4-99E9-E5E9155F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8453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8">
            <a:extLst xmlns:a="http://schemas.openxmlformats.org/drawingml/2006/main">
              <a:ext uri="{FF2B5EF4-FFF2-40B4-BE49-F238E27FC236}">
                <a16:creationId xmlns:a16="http://schemas.microsoft.com/office/drawing/2014/main" id="{4A716B41-E13B-4482-93AE-9C180465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453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311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sz="16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2" name="Google Shape;332;p18">
            <a:extLst xmlns:a="http://schemas.openxmlformats.org/drawingml/2006/main">
              <a:ext uri="{FF2B5EF4-FFF2-40B4-BE49-F238E27FC236}">
                <a16:creationId xmlns:a16="http://schemas.microsoft.com/office/drawing/2014/main" id="{8FD14C7D-D8A8-42FB-A4A1-93DE1411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74558"/>
            <a:ext cx="5435203" cy="421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6064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sz="195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Repara la lógica</a:t>
            </a:r>
            <a:endParaRPr sz="1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3" name="Google Shape;333;p18">
            <a:extLst xmlns:a="http://schemas.openxmlformats.org/drawingml/2006/main">
              <a:ext uri="{FF2B5EF4-FFF2-40B4-BE49-F238E27FC236}">
                <a16:creationId xmlns:a16="http://schemas.microsoft.com/office/drawing/2014/main" id="{A78767CF-732A-4091-A9C9-AE25F2C6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8879"/>
            <a:ext cx="8029575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 cmpd="sng">
            <a:solidFill>
              <a:srgbClr val="2A2A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8">
            <a:extLst xmlns:a="http://schemas.openxmlformats.org/drawingml/2006/main">
              <a:ext uri="{FF2B5EF4-FFF2-40B4-BE49-F238E27FC236}">
                <a16:creationId xmlns:a16="http://schemas.microsoft.com/office/drawing/2014/main" id="{C9F2AB39-54D8-47F8-B6C6-8FEAA0F7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75104"/>
            <a:ext cx="7641812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ts val="1650"/>
              <a:buFont typeface="Courier New"/>
              <a:buNone/>
            </a:pPr>
            <a:r>
              <a:rPr sz="1650" b="0" i="1" u="none" cap="none">
                <a:solidFill>
                  <a:srgbClr val="7C7C7C"/>
                </a:solidFill>
                <a:latin typeface="Courier New"/>
                <a:ea typeface="Courier New"/>
                <a:cs typeface="Courier New"/>
              </a:rPr>
              <a:t>const precio = Number(input.value);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E6E6E6"/>
                </a:solidFill>
                <a:highlight>
                  <a:srgbClr val="141414"/>
                </a:highlight>
                <a:latin typeface="Courier New"/>
                <a:ea typeface="Courier New"/>
                <a:cs typeface="Courier New"/>
              </a:rPr>
              <a:t>const total = precio * 0.9;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5" name="Google Shape;335;p18">
            <a:extLst xmlns:a="http://schemas.openxmlformats.org/drawingml/2006/main">
              <a:ext uri="{FF2B5EF4-FFF2-40B4-BE49-F238E27FC236}">
                <a16:creationId xmlns:a16="http://schemas.microsoft.com/office/drawing/2014/main" id="{3818F497-DFD4-4015-8D0C-157DD691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2929"/>
            <a:ext cx="8029575" cy="2124075"/>
          </a:xfrm>
          <a:prstGeom xmlns:a="http://schemas.openxmlformats.org/drawingml/2006/main" prst="roundRect">
            <a:avLst>
              <a:gd name="adj" fmla="val 448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 cmpd="sng">
            <a:solidFill>
              <a:srgbClr val="2A2A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8">
            <a:extLst xmlns:a="http://schemas.openxmlformats.org/drawingml/2006/main">
              <a:ext uri="{FF2B5EF4-FFF2-40B4-BE49-F238E27FC236}">
                <a16:creationId xmlns:a16="http://schemas.microsoft.com/office/drawing/2014/main" id="{CA65A2EC-0FE7-440F-AEC4-DB0ED8A7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9154"/>
            <a:ext cx="7641812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ts val="1650"/>
              <a:buFont typeface="Courier New"/>
              <a:buNone/>
            </a:pPr>
            <a:r>
              <a:rPr sz="1650" b="0" i="1" u="none" cap="none">
                <a:solidFill>
                  <a:srgbClr val="7C7C7C"/>
                </a:solidFill>
                <a:latin typeface="Courier New"/>
                <a:ea typeface="Courier New"/>
                <a:cs typeface="Courier New"/>
              </a:rPr>
              <a:t>// valida antes de calcular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E6E6E6"/>
                </a:solidFill>
                <a:highlight>
                  <a:srgbClr val="141414"/>
                </a:highlight>
                <a:latin typeface="Courier New"/>
                <a:ea typeface="Courier New"/>
                <a:cs typeface="Courier New"/>
              </a:rPr>
              <a:t>if (!Number.isFinite(precio)) return;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7" name="Google Shape;337;p18">
            <a:extLst xmlns:a="http://schemas.openxmlformats.org/drawingml/2006/main">
              <a:ext uri="{FF2B5EF4-FFF2-40B4-BE49-F238E27FC236}">
                <a16:creationId xmlns:a16="http://schemas.microsoft.com/office/drawing/2014/main" id="{5FF17988-D8F8-4A26-A59A-DAFBAD37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8453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8">
            <a:extLst xmlns:a="http://schemas.openxmlformats.org/drawingml/2006/main">
              <a:ext uri="{FF2B5EF4-FFF2-40B4-BE49-F238E27FC236}">
                <a16:creationId xmlns:a16="http://schemas.microsoft.com/office/drawing/2014/main" id="{4BFC5641-7683-4665-BEFC-D0AAFCA3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8453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311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sz="16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9" name="Google Shape;339;p18">
            <a:extLst xmlns:a="http://schemas.openxmlformats.org/drawingml/2006/main">
              <a:ext uri="{FF2B5EF4-FFF2-40B4-BE49-F238E27FC236}">
                <a16:creationId xmlns:a16="http://schemas.microsoft.com/office/drawing/2014/main" id="{D87AFD4E-7C74-4AE8-B4C2-10D5154D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174558"/>
            <a:ext cx="3346579" cy="421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6064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sz="195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Mejora la interfaz</a:t>
            </a:r>
            <a:endParaRPr sz="1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0" name="Google Shape;340;p18">
            <a:extLst xmlns:a="http://schemas.openxmlformats.org/drawingml/2006/main">
              <a:ext uri="{FF2B5EF4-FFF2-40B4-BE49-F238E27FC236}">
                <a16:creationId xmlns:a16="http://schemas.microsoft.com/office/drawing/2014/main" id="{2EA3A045-BAE7-4B5B-8A33-1DFA39E7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98879"/>
            <a:ext cx="8029575" cy="3067050"/>
          </a:xfrm>
          <a:prstGeom xmlns:a="http://schemas.openxmlformats.org/drawingml/2006/main" prst="roundRect">
            <a:avLst>
              <a:gd name="adj" fmla="val 310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 cmpd="sng">
            <a:solidFill>
              <a:srgbClr val="2A2A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8">
            <a:extLst xmlns:a="http://schemas.openxmlformats.org/drawingml/2006/main">
              <a:ext uri="{FF2B5EF4-FFF2-40B4-BE49-F238E27FC236}">
                <a16:creationId xmlns:a16="http://schemas.microsoft.com/office/drawing/2014/main" id="{D0787B35-6819-4C1D-9BB5-C8EBA555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75104"/>
            <a:ext cx="7641812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FF9B52"/>
                </a:solidFill>
                <a:latin typeface="Courier New"/>
                <a:ea typeface="Courier New"/>
                <a:cs typeface="Courier New"/>
              </a:rPr>
              <a:t>form.addEventListener('submit', guardar);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E6E6E6"/>
                </a:solidFill>
                <a:highlight>
                  <a:srgbClr val="141414"/>
                </a:highlight>
                <a:latin typeface="Courier New"/>
                <a:ea typeface="Courier New"/>
                <a:cs typeface="Courier New"/>
              </a:rPr>
              <a:t>lista.classList.add('grid-responsive');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2" name="Google Shape;342;p18">
            <a:extLst xmlns:a="http://schemas.openxmlformats.org/drawingml/2006/main">
              <a:ext uri="{FF2B5EF4-FFF2-40B4-BE49-F238E27FC236}">
                <a16:creationId xmlns:a16="http://schemas.microsoft.com/office/drawing/2014/main" id="{14918246-0359-46C1-B509-7D364E62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880229"/>
            <a:ext cx="8029575" cy="2119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8">
            <a:extLst xmlns:a="http://schemas.openxmlformats.org/drawingml/2006/main">
              <a:ext uri="{FF2B5EF4-FFF2-40B4-BE49-F238E27FC236}">
                <a16:creationId xmlns:a16="http://schemas.microsoft.com/office/drawing/2014/main" id="{F1889E37-DEFD-4623-A707-71E21456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223129"/>
            <a:ext cx="8036243" cy="421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6064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sz="195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CHECKPOINT</a:t>
            </a:r>
            <a:endParaRPr sz="1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4" name="Google Shape;344;p18">
            <a:extLst xmlns:a="http://schemas.openxmlformats.org/drawingml/2006/main">
              <a:ext uri="{FF2B5EF4-FFF2-40B4-BE49-F238E27FC236}">
                <a16:creationId xmlns:a16="http://schemas.microsoft.com/office/drawing/2014/main" id="{758EF4BD-8435-4C14-8663-3AC8681A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683157"/>
            <a:ext cx="7524845" cy="1011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1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La evidencia debe mostrar sintaxis correcta, interacción DOM, diseño adaptable y una ruta clara para publicar.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5" name="Google Shape;345;p18">
            <a:extLst xmlns:a="http://schemas.openxmlformats.org/drawingml/2006/main">
              <a:ext uri="{FF2B5EF4-FFF2-40B4-BE49-F238E27FC236}">
                <a16:creationId xmlns:a16="http://schemas.microsoft.com/office/drawing/2014/main" id="{B63A5167-0411-40AA-A16D-601D0092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63364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8">
            <a:extLst xmlns:a="http://schemas.openxmlformats.org/drawingml/2006/main">
              <a:ext uri="{FF2B5EF4-FFF2-40B4-BE49-F238E27FC236}">
                <a16:creationId xmlns:a16="http://schemas.microsoft.com/office/drawing/2014/main" id="{104BEF5F-0590-43B7-AB78-9F085D42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475589"/>
            <a:ext cx="3349526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84627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SEMANA 12 · CIERRE DE BRECHAS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7" name="Google Shape;347;p18">
            <a:extLst xmlns:a="http://schemas.openxmlformats.org/drawingml/2006/main">
              <a:ext uri="{FF2B5EF4-FFF2-40B4-BE49-F238E27FC236}">
                <a16:creationId xmlns:a16="http://schemas.microsoft.com/office/drawing/2014/main" id="{6D14B400-F310-41E4-A340-A657BA48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3053" y="9475589"/>
            <a:ext cx="330547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10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46346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FEA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3" name="Google Shape;353;p19">
            <a:extLst xmlns:a="http://schemas.openxmlformats.org/drawingml/2006/main">
              <a:ext uri="{FF2B5EF4-FFF2-40B4-BE49-F238E27FC236}">
                <a16:creationId xmlns:a16="http://schemas.microsoft.com/office/drawing/2014/main" id="{76F267DE-BAD8-4262-9E12-736E40AE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625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9">
            <a:extLst xmlns:a="http://schemas.openxmlformats.org/drawingml/2006/main">
              <a:ext uri="{FF2B5EF4-FFF2-40B4-BE49-F238E27FC236}">
                <a16:creationId xmlns:a16="http://schemas.microsoft.com/office/drawing/2014/main" id="{E02028AC-4CBE-4B45-BA80-3B5E620D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6300"/>
            <a:ext cx="8170485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PLAN PERSONAL DE MEJORA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5" name="Google Shape;355;p19">
            <a:extLst xmlns:a="http://schemas.openxmlformats.org/drawingml/2006/main">
              <a:ext uri="{FF2B5EF4-FFF2-40B4-BE49-F238E27FC236}">
                <a16:creationId xmlns:a16="http://schemas.microsoft.com/office/drawing/2014/main" id="{F15AA98F-E5B6-4DF4-9CFE-5570C81A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78161"/>
            <a:ext cx="17937480" cy="582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445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8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sz="4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Convierte una brecha en una acción concreta_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6" name="Google Shape;356;p19">
            <a:extLst xmlns:a="http://schemas.openxmlformats.org/drawingml/2006/main">
              <a:ext uri="{FF2B5EF4-FFF2-40B4-BE49-F238E27FC236}">
                <a16:creationId xmlns:a16="http://schemas.microsoft.com/office/drawing/2014/main" id="{EDA22223-FB12-4DC7-AD9A-A42A9A82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22208"/>
            <a:ext cx="5283101" cy="3333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9">
            <a:extLst xmlns:a="http://schemas.openxmlformats.org/drawingml/2006/main">
              <a:ext uri="{FF2B5EF4-FFF2-40B4-BE49-F238E27FC236}">
                <a16:creationId xmlns:a16="http://schemas.microsoft.com/office/drawing/2014/main" id="{28FF7AB9-05CF-4793-944C-BD0F0629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774634"/>
            <a:ext cx="4994166" cy="481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173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2250"/>
              <a:buFont typeface="Arial"/>
              <a:buNone/>
            </a:pPr>
            <a:r>
              <a:rPr sz="2250" b="0" i="0" u="none" cap="none">
                <a:solidFill>
                  <a:srgbClr val="FF7E08"/>
                </a:solidFill>
                <a:latin typeface="Arial"/>
                <a:ea typeface="Arial"/>
                <a:cs typeface="Arial"/>
              </a:rPr>
              <a:t>TEMA</a:t>
            </a:r>
            <a:endParaRPr sz="2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8" name="Google Shape;358;p19">
            <a:extLst xmlns:a="http://schemas.openxmlformats.org/drawingml/2006/main">
              <a:ext uri="{FF2B5EF4-FFF2-40B4-BE49-F238E27FC236}">
                <a16:creationId xmlns:a16="http://schemas.microsoft.com/office/drawing/2014/main" id="{A4CCD75C-FCC5-41AF-A345-A89674D5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388996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9">
            <a:extLst xmlns:a="http://schemas.openxmlformats.org/drawingml/2006/main">
              <a:ext uri="{FF2B5EF4-FFF2-40B4-BE49-F238E27FC236}">
                <a16:creationId xmlns:a16="http://schemas.microsoft.com/office/drawing/2014/main" id="{C2FBFAC4-5AA1-4569-98DB-521DDB4C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89021"/>
            <a:ext cx="4676355" cy="70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sz="195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¿Qué debo reforzar?</a:t>
            </a:r>
            <a:endParaRPr sz="1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0" name="Google Shape;360;p19">
            <a:extLst xmlns:a="http://schemas.openxmlformats.org/drawingml/2006/main">
              <a:ext uri="{FF2B5EF4-FFF2-40B4-BE49-F238E27FC236}">
                <a16:creationId xmlns:a16="http://schemas.microsoft.com/office/drawing/2014/main" id="{CC63D083-712E-4965-8912-69AE4CD7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409957"/>
            <a:ext cx="4676355" cy="678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Ejemplo: eventos y persistencia.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1" name="Google Shape;361;p19">
            <a:extLst xmlns:a="http://schemas.openxmlformats.org/drawingml/2006/main">
              <a:ext uri="{FF2B5EF4-FFF2-40B4-BE49-F238E27FC236}">
                <a16:creationId xmlns:a16="http://schemas.microsoft.com/office/drawing/2014/main" id="{D2D4EEEB-9310-4E11-BA34-DE81F27D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301" y="2422208"/>
            <a:ext cx="5283250" cy="3333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9">
            <a:extLst xmlns:a="http://schemas.openxmlformats.org/drawingml/2006/main">
              <a:ext uri="{FF2B5EF4-FFF2-40B4-BE49-F238E27FC236}">
                <a16:creationId xmlns:a16="http://schemas.microsoft.com/office/drawing/2014/main" id="{7DDDBDA0-A2A2-4D9A-A30F-DCF278BD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776" y="2774634"/>
            <a:ext cx="4994330" cy="481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173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2250"/>
              <a:buFont typeface="Arial"/>
              <a:buNone/>
            </a:pPr>
            <a:r>
              <a:rPr sz="2250" b="0" i="0" u="none" cap="none">
                <a:solidFill>
                  <a:srgbClr val="FF7E08"/>
                </a:solidFill>
                <a:latin typeface="Arial"/>
                <a:ea typeface="Arial"/>
                <a:cs typeface="Arial"/>
              </a:rPr>
              <a:t>APLICACIÓN</a:t>
            </a:r>
            <a:endParaRPr sz="2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3" name="Google Shape;363;p19">
            <a:extLst xmlns:a="http://schemas.openxmlformats.org/drawingml/2006/main">
              <a:ext uri="{FF2B5EF4-FFF2-40B4-BE49-F238E27FC236}">
                <a16:creationId xmlns:a16="http://schemas.microsoft.com/office/drawing/2014/main" id="{B08EF611-A651-47E4-8BC2-222DCBE5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776" y="3388996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9">
            <a:extLst xmlns:a="http://schemas.openxmlformats.org/drawingml/2006/main">
              <a:ext uri="{FF2B5EF4-FFF2-40B4-BE49-F238E27FC236}">
                <a16:creationId xmlns:a16="http://schemas.microsoft.com/office/drawing/2014/main" id="{9FF29A18-74A5-4371-8AFF-F3B85986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776" y="3589021"/>
            <a:ext cx="4676509" cy="70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sz="195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¿Dónde lo usaré?</a:t>
            </a:r>
            <a:endParaRPr sz="1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5" name="Google Shape;365;p19">
            <a:extLst xmlns:a="http://schemas.openxmlformats.org/drawingml/2006/main">
              <a:ext uri="{FF2B5EF4-FFF2-40B4-BE49-F238E27FC236}">
                <a16:creationId xmlns:a16="http://schemas.microsoft.com/office/drawing/2014/main" id="{27D1FDC7-83A3-4756-8B6F-59A65398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776" y="4409957"/>
            <a:ext cx="4994330" cy="358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34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Ejemplo: filtros de tareas del marketplace.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6" name="Google Shape;366;p19">
            <a:extLst xmlns:a="http://schemas.openxmlformats.org/drawingml/2006/main">
              <a:ext uri="{FF2B5EF4-FFF2-40B4-BE49-F238E27FC236}">
                <a16:creationId xmlns:a16="http://schemas.microsoft.com/office/drawing/2014/main" id="{B19C0BD5-4820-4FD0-AAB5-ABFA1B25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4150" y="2422208"/>
            <a:ext cx="5283250" cy="3333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9">
            <a:extLst xmlns:a="http://schemas.openxmlformats.org/drawingml/2006/main">
              <a:ext uri="{FF2B5EF4-FFF2-40B4-BE49-F238E27FC236}">
                <a16:creationId xmlns:a16="http://schemas.microsoft.com/office/drawing/2014/main" id="{A09351F2-95DA-4687-B690-EF0E0EBC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5625" y="2774634"/>
            <a:ext cx="4994330" cy="481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173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2250"/>
              <a:buFont typeface="Arial"/>
              <a:buNone/>
            </a:pPr>
            <a:r>
              <a:rPr sz="2250" b="0" i="0" u="none" cap="none">
                <a:solidFill>
                  <a:srgbClr val="FF7E08"/>
                </a:solidFill>
                <a:latin typeface="Arial"/>
                <a:ea typeface="Arial"/>
                <a:cs typeface="Arial"/>
              </a:rPr>
              <a:t>RECURSO</a:t>
            </a:r>
            <a:endParaRPr sz="2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8" name="Google Shape;368;p19">
            <a:extLst xmlns:a="http://schemas.openxmlformats.org/drawingml/2006/main">
              <a:ext uri="{FF2B5EF4-FFF2-40B4-BE49-F238E27FC236}">
                <a16:creationId xmlns:a16="http://schemas.microsoft.com/office/drawing/2014/main" id="{C419AC72-FD70-4DD6-959C-04E14088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5625" y="3388996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9">
            <a:extLst xmlns:a="http://schemas.openxmlformats.org/drawingml/2006/main">
              <a:ext uri="{FF2B5EF4-FFF2-40B4-BE49-F238E27FC236}">
                <a16:creationId xmlns:a16="http://schemas.microsoft.com/office/drawing/2014/main" id="{98DC294A-49DE-4C64-9C9D-0505A51C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5625" y="3589021"/>
            <a:ext cx="4676509" cy="1040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sz="195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¿Cómo practicaré?</a:t>
            </a:r>
            <a:endParaRPr sz="1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0" name="Google Shape;370;p19">
            <a:extLst xmlns:a="http://schemas.openxmlformats.org/drawingml/2006/main">
              <a:ext uri="{FF2B5EF4-FFF2-40B4-BE49-F238E27FC236}">
                <a16:creationId xmlns:a16="http://schemas.microsoft.com/office/drawing/2014/main" id="{9068FE5D-CF3A-4262-99E3-57C5AD07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5625" y="4744225"/>
            <a:ext cx="4676509" cy="697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8169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C5B7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CFC5B7"/>
                </a:solidFill>
                <a:latin typeface="Arial"/>
                <a:ea typeface="Arial"/>
                <a:cs typeface="Arial"/>
              </a:rPr>
              <a:t>Ejemplo: repetir el laboratorio y explicarlo a un compañero.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1" name="Google Shape;371;p19">
            <a:extLst xmlns:a="http://schemas.openxmlformats.org/drawingml/2006/main">
              <a:ext uri="{FF2B5EF4-FFF2-40B4-BE49-F238E27FC236}">
                <a16:creationId xmlns:a16="http://schemas.microsoft.com/office/drawing/2014/main" id="{DA9BF0B1-5842-4475-A1CB-DBB11E84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106117"/>
            <a:ext cx="163068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9">
            <a:extLst xmlns:a="http://schemas.openxmlformats.org/drawingml/2006/main">
              <a:ext uri="{FF2B5EF4-FFF2-40B4-BE49-F238E27FC236}">
                <a16:creationId xmlns:a16="http://schemas.microsoft.com/office/drawing/2014/main" id="{44E04CAB-AA55-488E-92DF-EC38F197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8458542"/>
            <a:ext cx="16030766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24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sz="187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Guarda la respuesta en el README: será tu compromiso para la siguiente sesión.</a:t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3" name="Google Shape;373;p19">
            <a:extLst xmlns:a="http://schemas.openxmlformats.org/drawingml/2006/main">
              <a:ext uri="{FF2B5EF4-FFF2-40B4-BE49-F238E27FC236}">
                <a16:creationId xmlns:a16="http://schemas.microsoft.com/office/drawing/2014/main" id="{32836BFD-8481-49C9-AE73-9B37E8A8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63364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9">
            <a:extLst xmlns:a="http://schemas.openxmlformats.org/drawingml/2006/main">
              <a:ext uri="{FF2B5EF4-FFF2-40B4-BE49-F238E27FC236}">
                <a16:creationId xmlns:a16="http://schemas.microsoft.com/office/drawing/2014/main" id="{E2C35B31-E3D8-40F1-A386-71A6B479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475589"/>
            <a:ext cx="3349526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84627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SEMANA 12 · CIERRE DE BRECHAS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5" name="Google Shape;375;p19">
            <a:extLst xmlns:a="http://schemas.openxmlformats.org/drawingml/2006/main">
              <a:ext uri="{FF2B5EF4-FFF2-40B4-BE49-F238E27FC236}">
                <a16:creationId xmlns:a16="http://schemas.microsoft.com/office/drawing/2014/main" id="{2951D621-3FFF-4B8C-A1AC-A5A255CF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3053" y="9475589"/>
            <a:ext cx="330547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11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15693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FEA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1" name="Google Shape;381;p22">
            <a:extLst xmlns:a="http://schemas.openxmlformats.org/drawingml/2006/main">
              <a:ext uri="{FF2B5EF4-FFF2-40B4-BE49-F238E27FC236}">
                <a16:creationId xmlns:a16="http://schemas.microsoft.com/office/drawing/2014/main" id="{55A87510-6F8B-4375-AFD2-560AB83D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625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2">
            <a:extLst xmlns:a="http://schemas.openxmlformats.org/drawingml/2006/main">
              <a:ext uri="{FF2B5EF4-FFF2-40B4-BE49-F238E27FC236}">
                <a16:creationId xmlns:a16="http://schemas.microsoft.com/office/drawing/2014/main" id="{0262017E-C2AC-49BE-A47B-CC808E95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6300"/>
            <a:ext cx="9628986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CIERRE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3" name="Google Shape;383;p22">
            <a:extLst xmlns:a="http://schemas.openxmlformats.org/drawingml/2006/main">
              <a:ext uri="{FF2B5EF4-FFF2-40B4-BE49-F238E27FC236}">
                <a16:creationId xmlns:a16="http://schemas.microsoft.com/office/drawing/2014/main" id="{BCEAD981-FE3D-4B19-A8EC-D9E95093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40064"/>
            <a:ext cx="17937480" cy="582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445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8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sz="4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La evidencia vale más que la memoria_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4" name="Google Shape;384;p22">
            <a:extLst xmlns:a="http://schemas.openxmlformats.org/drawingml/2006/main">
              <a:ext uri="{FF2B5EF4-FFF2-40B4-BE49-F238E27FC236}">
                <a16:creationId xmlns:a16="http://schemas.microsoft.com/office/drawing/2014/main" id="{CE686B2E-FA12-4345-9239-7D1AB7BC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3720"/>
            <a:ext cx="16306800" cy="18042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2">
            <a:extLst xmlns:a="http://schemas.openxmlformats.org/drawingml/2006/main">
              <a:ext uri="{FF2B5EF4-FFF2-40B4-BE49-F238E27FC236}">
                <a16:creationId xmlns:a16="http://schemas.microsoft.com/office/drawing/2014/main" id="{FB081BEA-746B-45EA-A832-476117CE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36620"/>
            <a:ext cx="16050387" cy="11565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6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sz="20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Hoy no aprendiste un tema nuevo: comprobaste lo que ya puedes construir.</a:t>
            </a:r>
            <a:endParaRPr sz="20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6" name="Google Shape;386;p22">
            <a:extLst xmlns:a="http://schemas.openxmlformats.org/drawingml/2006/main">
              <a:ext uri="{FF2B5EF4-FFF2-40B4-BE49-F238E27FC236}">
                <a16:creationId xmlns:a16="http://schemas.microsoft.com/office/drawing/2014/main" id="{A3A652E4-70B3-4D1C-A5D7-B8DBB12A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7230"/>
            <a:ext cx="9791700" cy="33322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2">
            <a:extLst xmlns:a="http://schemas.openxmlformats.org/drawingml/2006/main">
              <a:ext uri="{FF2B5EF4-FFF2-40B4-BE49-F238E27FC236}">
                <a16:creationId xmlns:a16="http://schemas.microsoft.com/office/drawing/2014/main" id="{8D737FCD-BB11-4FD8-9544-A75F36A1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579655"/>
            <a:ext cx="9953625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F7E08"/>
                </a:solidFill>
                <a:latin typeface="Arial"/>
                <a:ea typeface="Arial"/>
                <a:cs typeface="Arial"/>
              </a:rPr>
              <a:t>ENTREGA DE LA SESIÓN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8" name="Google Shape;388;p22">
            <a:extLst xmlns:a="http://schemas.openxmlformats.org/drawingml/2006/main">
              <a:ext uri="{FF2B5EF4-FFF2-40B4-BE49-F238E27FC236}">
                <a16:creationId xmlns:a16="http://schemas.microsoft.com/office/drawing/2014/main" id="{E9F43207-BD15-42EB-887E-508C9454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114841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F4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2">
            <a:extLst xmlns:a="http://schemas.openxmlformats.org/drawingml/2006/main">
              <a:ext uri="{FF2B5EF4-FFF2-40B4-BE49-F238E27FC236}">
                <a16:creationId xmlns:a16="http://schemas.microsoft.com/office/drawing/2014/main" id="{3684E863-3188-4487-AA6B-31D1E778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114841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1F8A5B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1F8A5B"/>
                </a:solidFill>
                <a:latin typeface="Arial"/>
                <a:ea typeface="Arial"/>
                <a:cs typeface="Arial"/>
              </a:rPr>
              <a:t>✓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0" name="Google Shape;390;p22">
            <a:extLst xmlns:a="http://schemas.openxmlformats.org/drawingml/2006/main">
              <a:ext uri="{FF2B5EF4-FFF2-40B4-BE49-F238E27FC236}">
                <a16:creationId xmlns:a16="http://schemas.microsoft.com/office/drawing/2014/main" id="{6E340E82-DE4E-47CC-841A-28C08312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086266"/>
            <a:ext cx="8790432" cy="668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Completa el laboratorio interactivo.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1" name="Google Shape;391;p22">
            <a:extLst xmlns:a="http://schemas.openxmlformats.org/drawingml/2006/main">
              <a:ext uri="{FF2B5EF4-FFF2-40B4-BE49-F238E27FC236}">
                <a16:creationId xmlns:a16="http://schemas.microsoft.com/office/drawing/2014/main" id="{2326B948-26EA-43C4-82E5-D22AC72B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859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F4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2">
            <a:extLst xmlns:a="http://schemas.openxmlformats.org/drawingml/2006/main">
              <a:ext uri="{FF2B5EF4-FFF2-40B4-BE49-F238E27FC236}">
                <a16:creationId xmlns:a16="http://schemas.microsoft.com/office/drawing/2014/main" id="{C731813D-6ABC-4AD3-ACD6-34F1F28E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8598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1F8A5B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1F8A5B"/>
                </a:solidFill>
                <a:latin typeface="Arial"/>
                <a:ea typeface="Arial"/>
                <a:cs typeface="Arial"/>
              </a:rPr>
              <a:t>✓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3" name="Google Shape;393;p22">
            <a:extLst xmlns:a="http://schemas.openxmlformats.org/drawingml/2006/main">
              <a:ext uri="{FF2B5EF4-FFF2-40B4-BE49-F238E27FC236}">
                <a16:creationId xmlns:a16="http://schemas.microsoft.com/office/drawing/2014/main" id="{F2035D00-D9F8-4417-B1BB-53B944C3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831300"/>
            <a:ext cx="8790432" cy="668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Comparte una URL pública o ruta de publicación.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4" name="Google Shape;394;p22">
            <a:extLst xmlns:a="http://schemas.openxmlformats.org/drawingml/2006/main">
              <a:ext uri="{FF2B5EF4-FFF2-40B4-BE49-F238E27FC236}">
                <a16:creationId xmlns:a16="http://schemas.microsoft.com/office/drawing/2014/main" id="{61B0B848-7F1D-4BE5-A165-82812C7E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60490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F4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2">
            <a:extLst xmlns:a="http://schemas.openxmlformats.org/drawingml/2006/main">
              <a:ext uri="{FF2B5EF4-FFF2-40B4-BE49-F238E27FC236}">
                <a16:creationId xmlns:a16="http://schemas.microsoft.com/office/drawing/2014/main" id="{9F6DD1B3-C938-4B8C-905F-3089A24E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6604908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1F8A5B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1F8A5B"/>
                </a:solidFill>
                <a:latin typeface="Arial"/>
                <a:ea typeface="Arial"/>
                <a:cs typeface="Arial"/>
              </a:rPr>
              <a:t>✓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6" name="Google Shape;396;p22">
            <a:extLst xmlns:a="http://schemas.openxmlformats.org/drawingml/2006/main">
              <a:ext uri="{FF2B5EF4-FFF2-40B4-BE49-F238E27FC236}">
                <a16:creationId xmlns:a16="http://schemas.microsoft.com/office/drawing/2014/main" id="{91725C27-AA43-43D9-800D-EB731250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6576333"/>
            <a:ext cx="8790432" cy="668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Escribe tu plan personal de mejora.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7" name="Google Shape;397;p22">
            <a:extLst xmlns:a="http://schemas.openxmlformats.org/drawingml/2006/main">
              <a:ext uri="{FF2B5EF4-FFF2-40B4-BE49-F238E27FC236}">
                <a16:creationId xmlns:a16="http://schemas.microsoft.com/office/drawing/2014/main" id="{BC9AA3DD-FC63-46E6-AFB7-CCF49134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227230"/>
            <a:ext cx="6286500" cy="3254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2">
            <a:extLst xmlns:a="http://schemas.openxmlformats.org/drawingml/2006/main">
              <a:ext uri="{FF2B5EF4-FFF2-40B4-BE49-F238E27FC236}">
                <a16:creationId xmlns:a16="http://schemas.microsoft.com/office/drawing/2014/main" id="{E7854510-EC32-4038-BD2A-38BB81E8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579655"/>
            <a:ext cx="6097905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F7E08"/>
                </a:solidFill>
                <a:latin typeface="Arial"/>
                <a:ea typeface="Arial"/>
                <a:cs typeface="Arial"/>
              </a:rPr>
              <a:t>LISTA DE VERIFICACIÓN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9" name="Google Shape;399;p22">
            <a:extLst xmlns:a="http://schemas.openxmlformats.org/drawingml/2006/main">
              <a:ext uri="{FF2B5EF4-FFF2-40B4-BE49-F238E27FC236}">
                <a16:creationId xmlns:a16="http://schemas.microsoft.com/office/drawing/2014/main" id="{A8C26F4B-674C-4918-B5BF-8C7E4A51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5095791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F4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2">
            <a:extLst xmlns:a="http://schemas.openxmlformats.org/drawingml/2006/main">
              <a:ext uri="{FF2B5EF4-FFF2-40B4-BE49-F238E27FC236}">
                <a16:creationId xmlns:a16="http://schemas.microsoft.com/office/drawing/2014/main" id="{087619F6-F505-4F55-8A1A-BD7D89F1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5095791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1F8A5B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1F8A5B"/>
                </a:solidFill>
                <a:latin typeface="Arial"/>
                <a:ea typeface="Arial"/>
                <a:cs typeface="Arial"/>
              </a:rPr>
              <a:t>□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1" name="Google Shape;401;p22">
            <a:extLst xmlns:a="http://schemas.openxmlformats.org/drawingml/2006/main">
              <a:ext uri="{FF2B5EF4-FFF2-40B4-BE49-F238E27FC236}">
                <a16:creationId xmlns:a16="http://schemas.microsoft.com/office/drawing/2014/main" id="{B329C1F2-253E-49AD-9956-FD8AAB62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25" y="5067216"/>
            <a:ext cx="3616866" cy="34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699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75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sz="17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Sintaxis y cálculos correctos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2" name="Google Shape;402;p22">
            <a:extLst xmlns:a="http://schemas.openxmlformats.org/drawingml/2006/main">
              <a:ext uri="{FF2B5EF4-FFF2-40B4-BE49-F238E27FC236}">
                <a16:creationId xmlns:a16="http://schemas.microsoft.com/office/drawing/2014/main" id="{02339550-0D9D-4BB3-8685-8EF1BDFA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5581566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F4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2">
            <a:extLst xmlns:a="http://schemas.openxmlformats.org/drawingml/2006/main">
              <a:ext uri="{FF2B5EF4-FFF2-40B4-BE49-F238E27FC236}">
                <a16:creationId xmlns:a16="http://schemas.microsoft.com/office/drawing/2014/main" id="{6264535D-E623-4494-BF5F-FCAF1B3B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5581566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1F8A5B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1F8A5B"/>
                </a:solidFill>
                <a:latin typeface="Arial"/>
                <a:ea typeface="Arial"/>
                <a:cs typeface="Arial"/>
              </a:rPr>
              <a:t>□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4" name="Google Shape;404;p22">
            <a:extLst xmlns:a="http://schemas.openxmlformats.org/drawingml/2006/main">
              <a:ext uri="{FF2B5EF4-FFF2-40B4-BE49-F238E27FC236}">
                <a16:creationId xmlns:a16="http://schemas.microsoft.com/office/drawing/2014/main" id="{41B0E267-A12B-4475-BBC8-8264EC57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25" y="5552991"/>
            <a:ext cx="3081040" cy="34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699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75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sz="17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DOM y eventos funcionales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5" name="Google Shape;405;p22">
            <a:extLst xmlns:a="http://schemas.openxmlformats.org/drawingml/2006/main">
              <a:ext uri="{FF2B5EF4-FFF2-40B4-BE49-F238E27FC236}">
                <a16:creationId xmlns:a16="http://schemas.microsoft.com/office/drawing/2014/main" id="{7B814E3F-AC69-482F-83B4-2671C04D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067341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F4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2">
            <a:extLst xmlns:a="http://schemas.openxmlformats.org/drawingml/2006/main">
              <a:ext uri="{FF2B5EF4-FFF2-40B4-BE49-F238E27FC236}">
                <a16:creationId xmlns:a16="http://schemas.microsoft.com/office/drawing/2014/main" id="{7636E185-6C58-4800-A744-F35A2DE5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067341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1F8A5B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1F8A5B"/>
                </a:solidFill>
                <a:latin typeface="Arial"/>
                <a:ea typeface="Arial"/>
                <a:cs typeface="Arial"/>
              </a:rPr>
              <a:t>□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7" name="Google Shape;407;p22">
            <a:extLst xmlns:a="http://schemas.openxmlformats.org/drawingml/2006/main">
              <a:ext uri="{FF2B5EF4-FFF2-40B4-BE49-F238E27FC236}">
                <a16:creationId xmlns:a16="http://schemas.microsoft.com/office/drawing/2014/main" id="{6F17833B-CFEA-4301-8F67-66FE45F6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25" y="6038766"/>
            <a:ext cx="5180076" cy="6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75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sz="17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Grid responsive verificable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8" name="Google Shape;408;p22">
            <a:extLst xmlns:a="http://schemas.openxmlformats.org/drawingml/2006/main">
              <a:ext uri="{FF2B5EF4-FFF2-40B4-BE49-F238E27FC236}">
                <a16:creationId xmlns:a16="http://schemas.microsoft.com/office/drawing/2014/main" id="{4C6F6FB3-10DA-4473-9FBC-063DDAB6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767131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F4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2">
            <a:extLst xmlns:a="http://schemas.openxmlformats.org/drawingml/2006/main">
              <a:ext uri="{FF2B5EF4-FFF2-40B4-BE49-F238E27FC236}">
                <a16:creationId xmlns:a16="http://schemas.microsoft.com/office/drawing/2014/main" id="{97006EAA-590A-4ED1-8E46-E7C841C4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767131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1F8A5B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1F8A5B"/>
                </a:solidFill>
                <a:latin typeface="Arial"/>
                <a:ea typeface="Arial"/>
                <a:cs typeface="Arial"/>
              </a:rPr>
              <a:t>□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0" name="Google Shape;410;p22">
            <a:extLst xmlns:a="http://schemas.openxmlformats.org/drawingml/2006/main">
              <a:ext uri="{FF2B5EF4-FFF2-40B4-BE49-F238E27FC236}">
                <a16:creationId xmlns:a16="http://schemas.microsoft.com/office/drawing/2014/main" id="{362FBE4E-2FBF-4D5F-8B95-3F736B9F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25" y="6738556"/>
            <a:ext cx="3469526" cy="34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699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75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sz="17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Publicación comprobada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1" name="Google Shape;411;p22">
            <a:extLst xmlns:a="http://schemas.openxmlformats.org/drawingml/2006/main">
              <a:ext uri="{FF2B5EF4-FFF2-40B4-BE49-F238E27FC236}">
                <a16:creationId xmlns:a16="http://schemas.microsoft.com/office/drawing/2014/main" id="{4098748E-C260-45CB-8B2C-4DFEEEF2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7633906"/>
            <a:ext cx="6286500" cy="13448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2">
            <a:extLst xmlns:a="http://schemas.openxmlformats.org/drawingml/2006/main">
              <a:ext uri="{FF2B5EF4-FFF2-40B4-BE49-F238E27FC236}">
                <a16:creationId xmlns:a16="http://schemas.microsoft.com/office/drawing/2014/main" id="{B521A591-B416-4BEA-B06E-6C5414E5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7986331"/>
            <a:ext cx="5709857" cy="678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527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SIGUIENTE PASO · Elige una sola brecha y practícala esta semana.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3" name="Google Shape;413;p22">
            <a:extLst xmlns:a="http://schemas.openxmlformats.org/drawingml/2006/main">
              <a:ext uri="{FF2B5EF4-FFF2-40B4-BE49-F238E27FC236}">
                <a16:creationId xmlns:a16="http://schemas.microsoft.com/office/drawing/2014/main" id="{A60EC4FB-3501-4799-8B01-A7E08124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63364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2">
            <a:extLst xmlns:a="http://schemas.openxmlformats.org/drawingml/2006/main">
              <a:ext uri="{FF2B5EF4-FFF2-40B4-BE49-F238E27FC236}">
                <a16:creationId xmlns:a16="http://schemas.microsoft.com/office/drawing/2014/main" id="{744C4F78-1715-4483-945F-39F58710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475589"/>
            <a:ext cx="3349526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84627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SEMANA 12 · CIERRE DE BRECHAS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5" name="Google Shape;415;p22">
            <a:extLst xmlns:a="http://schemas.openxmlformats.org/drawingml/2006/main">
              <a:ext uri="{FF2B5EF4-FFF2-40B4-BE49-F238E27FC236}">
                <a16:creationId xmlns:a16="http://schemas.microsoft.com/office/drawing/2014/main" id="{7646C856-AF35-4F37-A01E-57028290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3053" y="9475589"/>
            <a:ext cx="330547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12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838809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2026-08-29T14:15:00.3910000Z</dcterms:created>
  <dcterms:modified xsi:type="dcterms:W3CDTF">2026-08-29T14:15:00.3910000Z</dcterms:modified>
</coreProperties>
</file>