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https://pokeapi.co/api/v2/pokemon/{nombre}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C:/Users/alberto/Documents/mods/Guia_Asincronia_NodeJS_JovenesCreaTIvos2026 (1).docx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16;p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697200" y="609600"/>
            <a:ext cx="1600200" cy="458539"/>
          </a:xfrm>
          <a:prstGeom prst="rect">
            <a:avLst/>
          </a:prstGeom>
          <a:ln>
            <a:noFill/>
          </a:ln>
        </p:spPr>
      </p:pic>
      <p:sp>
        <p:nvSpPr>
          <p:cNvPr id="17" name="Google Shape;17;p1">
            <a:extLst>
              <a:ext uri="{FF2B5EF4-FFF2-40B4-BE49-F238E27FC236}">
                <a16:creationId xmlns:a16="http://schemas.microsoft.com/office/drawing/2014/main" id="{60047482-7402-4ACB-8A3A-5BB6D9033E59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>
            <a:extLst>
              <a:ext uri="{FF2B5EF4-FFF2-40B4-BE49-F238E27FC236}">
                <a16:creationId xmlns:a16="http://schemas.microsoft.com/office/drawing/2014/main" id="{B4165ED7-DBCC-48C1-AC98-2F6BA20987E4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627798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JÓVENES CREATIVOS 2026 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Google Shape;19;p1">
            <a:extLst>
              <a:ext uri="{FF2B5EF4-FFF2-40B4-BE49-F238E27FC236}">
                <a16:creationId xmlns:a16="http://schemas.microsoft.com/office/drawing/2014/main" id="{F78552A1-5D58-4B27-9FA8-A737F5CEDEF0}"/>
              </a:ext>
            </a:extLst>
          </p:cNvPr>
          <p:cNvSpPr>
            <a:spLocks noGrp="1"/>
          </p:cNvSpPr>
          <p:nvPr/>
        </p:nvSpPr>
        <p:spPr>
          <a:xfrm>
            <a:off x="990600" y="3490317"/>
            <a:ext cx="1793748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4"/>
          </a:bodyPr>
          <a:lstStyle/>
          <a:p>
            <a:pPr marL="0" marR="0" lvl="0" indent="0" algn="l">
              <a:lnSpc>
                <a:spcPct val="137778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3000"/>
              <a:buFont typeface="Arial"/>
              <a:buNone/>
            </a:pPr>
            <a:r>
              <a:rPr sz="30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Módulo 3 · JavaScript y lógica dinámica</a:t>
            </a:r>
            <a:endParaRPr sz="3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Google Shape;20;p1">
            <a:extLst>
              <a:ext uri="{FF2B5EF4-FFF2-40B4-BE49-F238E27FC236}">
                <a16:creationId xmlns:a16="http://schemas.microsoft.com/office/drawing/2014/main" id="{C9237E02-A891-4147-AA0D-BC62931A104C}"/>
              </a:ext>
            </a:extLst>
          </p:cNvPr>
          <p:cNvSpPr>
            <a:spLocks noGrp="1"/>
          </p:cNvSpPr>
          <p:nvPr/>
        </p:nvSpPr>
        <p:spPr>
          <a:xfrm>
            <a:off x="990600" y="4252317"/>
            <a:ext cx="16796004" cy="175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8586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00"/>
              <a:buFont typeface="Arial"/>
              <a:buNone/>
            </a:pPr>
            <a:r>
              <a:rPr sz="69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Asincronía: pedir no es tener el dato_</a:t>
            </a:r>
            <a:endParaRPr sz="6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Google Shape;21;p1">
            <a:extLst>
              <a:ext uri="{FF2B5EF4-FFF2-40B4-BE49-F238E27FC236}">
                <a16:creationId xmlns:a16="http://schemas.microsoft.com/office/drawing/2014/main" id="{524CF37B-9478-4F14-91F3-E83BC36813C6}"/>
              </a:ext>
            </a:extLst>
          </p:cNvPr>
          <p:cNvSpPr>
            <a:spLocks noGrp="1"/>
          </p:cNvSpPr>
          <p:nvPr/>
        </p:nvSpPr>
        <p:spPr>
          <a:xfrm>
            <a:off x="990600" y="6255554"/>
            <a:ext cx="13735050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2550"/>
              <a:buFont typeface="Arial"/>
              <a:buNone/>
            </a:pPr>
            <a:r>
              <a:rPr sz="255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Promesas, async/await, PokéAPI y un primer servidor con Node.js aplicados al marketplace.</a:t>
            </a:r>
            <a:endParaRPr sz="25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Google Shape;22;p1">
            <a:extLst>
              <a:ext uri="{FF2B5EF4-FFF2-40B4-BE49-F238E27FC236}">
                <a16:creationId xmlns:a16="http://schemas.microsoft.com/office/drawing/2014/main" id="{5B9E1E3B-0F1E-48C0-829C-417BD7A012B5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1">
            <a:extLst>
              <a:ext uri="{FF2B5EF4-FFF2-40B4-BE49-F238E27FC236}">
                <a16:creationId xmlns:a16="http://schemas.microsoft.com/office/drawing/2014/main" id="{2FA5224B-6FC9-4D4D-801F-2674EE473635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2767533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Guía de clase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Google Shape;24;p1">
            <a:extLst>
              <a:ext uri="{FF2B5EF4-FFF2-40B4-BE49-F238E27FC236}">
                <a16:creationId xmlns:a16="http://schemas.microsoft.com/office/drawing/2014/main" id="{3828D5EA-FA51-4854-A4EE-AF9F8E828109}"/>
              </a:ext>
            </a:extLst>
          </p:cNvPr>
          <p:cNvSpPr>
            <a:spLocks noGrp="1"/>
          </p:cNvSpPr>
          <p:nvPr/>
        </p:nvSpPr>
        <p:spPr>
          <a:xfrm>
            <a:off x="15154275" y="9475589"/>
            <a:ext cx="2357438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Duración 2 h · Virtual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1233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>
            <a:extLst>
              <a:ext uri="{FF2B5EF4-FFF2-40B4-BE49-F238E27FC236}">
                <a16:creationId xmlns:a16="http://schemas.microsoft.com/office/drawing/2014/main" id="{A80B3393-4131-4BD4-8E14-81D42244EE3A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>
            <a:extLst>
              <a:ext uri="{FF2B5EF4-FFF2-40B4-BE49-F238E27FC236}">
                <a16:creationId xmlns:a16="http://schemas.microsoft.com/office/drawing/2014/main" id="{E54DD104-32D9-46E0-AFFC-677B1ECB1480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4218503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LA SESIÓN DE UN VISTAZO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Google Shape;66;p3">
            <a:extLst>
              <a:ext uri="{FF2B5EF4-FFF2-40B4-BE49-F238E27FC236}">
                <a16:creationId xmlns:a16="http://schemas.microsoft.com/office/drawing/2014/main" id="{4DC739AD-CC8E-4630-AB08-A5C384B87D2C}"/>
              </a:ext>
            </a:extLst>
          </p:cNvPr>
          <p:cNvSpPr>
            <a:spLocks noGrp="1"/>
          </p:cNvSpPr>
          <p:nvPr/>
        </p:nvSpPr>
        <p:spPr>
          <a:xfrm>
            <a:off x="990600" y="147816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Antes de empezar_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7" name="Google Shape;67;p3">
            <a:extLst>
              <a:ext uri="{FF2B5EF4-FFF2-40B4-BE49-F238E27FC236}">
                <a16:creationId xmlns:a16="http://schemas.microsoft.com/office/drawing/2014/main" id="{51C256F4-C13A-4496-9BEA-54726A76BF3B}"/>
              </a:ext>
            </a:extLst>
          </p:cNvPr>
          <p:cNvSpPr>
            <a:spLocks noGrp="1"/>
          </p:cNvSpPr>
          <p:nvPr/>
        </p:nvSpPr>
        <p:spPr>
          <a:xfrm>
            <a:off x="990600" y="4657437"/>
            <a:ext cx="3905250" cy="219432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>
            <a:extLst>
              <a:ext uri="{FF2B5EF4-FFF2-40B4-BE49-F238E27FC236}">
                <a16:creationId xmlns:a16="http://schemas.microsoft.com/office/drawing/2014/main" id="{885B096B-8422-4C91-98B7-8B582486C140}"/>
              </a:ext>
            </a:extLst>
          </p:cNvPr>
          <p:cNvSpPr>
            <a:spLocks noGrp="1"/>
          </p:cNvSpPr>
          <p:nvPr/>
        </p:nvSpPr>
        <p:spPr>
          <a:xfrm>
            <a:off x="1362075" y="5009862"/>
            <a:ext cx="34785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Duración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3">
            <a:extLst>
              <a:ext uri="{FF2B5EF4-FFF2-40B4-BE49-F238E27FC236}">
                <a16:creationId xmlns:a16="http://schemas.microsoft.com/office/drawing/2014/main" id="{E1B94455-7668-4E96-A87D-12060845118E}"/>
              </a:ext>
            </a:extLst>
          </p:cNvPr>
          <p:cNvSpPr>
            <a:spLocks noGrp="1"/>
          </p:cNvSpPr>
          <p:nvPr/>
        </p:nvSpPr>
        <p:spPr>
          <a:xfrm>
            <a:off x="1362075" y="5586124"/>
            <a:ext cx="3478530" cy="539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147"/>
          </a:bodyPr>
          <a:lstStyle/>
          <a:p>
            <a:pPr marL="0" marR="0" lvl="0" indent="0" algn="l">
              <a:lnSpc>
                <a:spcPct val="1351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sz="25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 horas</a:t>
            </a:r>
            <a:endParaRPr sz="25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E8D532B1-B226-4D11-97F3-AEDC57260E3D}"/>
              </a:ext>
            </a:extLst>
          </p:cNvPr>
          <p:cNvSpPr>
            <a:spLocks noGrp="1"/>
          </p:cNvSpPr>
          <p:nvPr/>
        </p:nvSpPr>
        <p:spPr>
          <a:xfrm>
            <a:off x="1362075" y="6145123"/>
            <a:ext cx="3478530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Práctica guiada y proyecto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91ED1B36-E293-45D2-BCE2-E73CD811B2FF}"/>
              </a:ext>
            </a:extLst>
          </p:cNvPr>
          <p:cNvSpPr>
            <a:spLocks noGrp="1"/>
          </p:cNvSpPr>
          <p:nvPr/>
        </p:nvSpPr>
        <p:spPr>
          <a:xfrm>
            <a:off x="5124450" y="4657437"/>
            <a:ext cx="3905250" cy="219432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>
            <a:extLst>
              <a:ext uri="{FF2B5EF4-FFF2-40B4-BE49-F238E27FC236}">
                <a16:creationId xmlns:a16="http://schemas.microsoft.com/office/drawing/2014/main" id="{0CD99A39-C0DC-4040-A935-36A08E62B6F6}"/>
              </a:ext>
            </a:extLst>
          </p:cNvPr>
          <p:cNvSpPr>
            <a:spLocks noGrp="1"/>
          </p:cNvSpPr>
          <p:nvPr/>
        </p:nvSpPr>
        <p:spPr>
          <a:xfrm>
            <a:off x="5495925" y="5009862"/>
            <a:ext cx="34785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 Herramientas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3">
            <a:extLst>
              <a:ext uri="{FF2B5EF4-FFF2-40B4-BE49-F238E27FC236}">
                <a16:creationId xmlns:a16="http://schemas.microsoft.com/office/drawing/2014/main" id="{681C9726-6399-4E88-8043-82C6E43875E0}"/>
              </a:ext>
            </a:extLst>
          </p:cNvPr>
          <p:cNvSpPr>
            <a:spLocks noGrp="1"/>
          </p:cNvSpPr>
          <p:nvPr/>
        </p:nvSpPr>
        <p:spPr>
          <a:xfrm>
            <a:off x="5495925" y="5586124"/>
            <a:ext cx="3478530" cy="539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147"/>
          </a:bodyPr>
          <a:lstStyle/>
          <a:p>
            <a:pPr marL="0" marR="0" lvl="0" indent="0" algn="l">
              <a:lnSpc>
                <a:spcPct val="1351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sz="25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VS Code</a:t>
            </a:r>
            <a:endParaRPr sz="25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3">
            <a:extLst>
              <a:ext uri="{FF2B5EF4-FFF2-40B4-BE49-F238E27FC236}">
                <a16:creationId xmlns:a16="http://schemas.microsoft.com/office/drawing/2014/main" id="{DACD9962-5CC9-4106-A73B-2AE827AC0C69}"/>
              </a:ext>
            </a:extLst>
          </p:cNvPr>
          <p:cNvSpPr>
            <a:spLocks noGrp="1"/>
          </p:cNvSpPr>
          <p:nvPr/>
        </p:nvSpPr>
        <p:spPr>
          <a:xfrm>
            <a:off x="5495925" y="6145123"/>
            <a:ext cx="3478530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+ DevTools + Node.js + npm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EDAF52BC-E960-4A12-86C4-508DDF975109}"/>
              </a:ext>
            </a:extLst>
          </p:cNvPr>
          <p:cNvSpPr>
            <a:spLocks noGrp="1"/>
          </p:cNvSpPr>
          <p:nvPr/>
        </p:nvSpPr>
        <p:spPr>
          <a:xfrm>
            <a:off x="9258300" y="4657437"/>
            <a:ext cx="3905250" cy="219432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62154CC2-FA7A-4F94-B385-947BFB9620C2}"/>
              </a:ext>
            </a:extLst>
          </p:cNvPr>
          <p:cNvSpPr>
            <a:spLocks noGrp="1"/>
          </p:cNvSpPr>
          <p:nvPr/>
        </p:nvSpPr>
        <p:spPr>
          <a:xfrm>
            <a:off x="9629775" y="5009862"/>
            <a:ext cx="34785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Modalidad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3">
            <a:extLst>
              <a:ext uri="{FF2B5EF4-FFF2-40B4-BE49-F238E27FC236}">
                <a16:creationId xmlns:a16="http://schemas.microsoft.com/office/drawing/2014/main" id="{7D9A95E2-A2D7-426A-BEBB-5BCA8390B4D2}"/>
              </a:ext>
            </a:extLst>
          </p:cNvPr>
          <p:cNvSpPr>
            <a:spLocks noGrp="1"/>
          </p:cNvSpPr>
          <p:nvPr/>
        </p:nvSpPr>
        <p:spPr>
          <a:xfrm>
            <a:off x="9629775" y="5586124"/>
            <a:ext cx="3478530" cy="539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147"/>
          </a:bodyPr>
          <a:lstStyle/>
          <a:p>
            <a:pPr marL="0" marR="0" lvl="0" indent="0" algn="l">
              <a:lnSpc>
                <a:spcPct val="1351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sz="25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Virtual</a:t>
            </a:r>
            <a:endParaRPr sz="25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3">
            <a:extLst>
              <a:ext uri="{FF2B5EF4-FFF2-40B4-BE49-F238E27FC236}">
                <a16:creationId xmlns:a16="http://schemas.microsoft.com/office/drawing/2014/main" id="{40E1BC62-3973-4D17-A06C-A7DE76EE9883}"/>
              </a:ext>
            </a:extLst>
          </p:cNvPr>
          <p:cNvSpPr>
            <a:spLocks noGrp="1"/>
          </p:cNvSpPr>
          <p:nvPr/>
        </p:nvSpPr>
        <p:spPr>
          <a:xfrm>
            <a:off x="9629775" y="6145123"/>
            <a:ext cx="3478530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código, predicción y pruebas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3">
            <a:extLst>
              <a:ext uri="{FF2B5EF4-FFF2-40B4-BE49-F238E27FC236}">
                <a16:creationId xmlns:a16="http://schemas.microsoft.com/office/drawing/2014/main" id="{70656799-EB5E-4147-A252-29FBE710C1B4}"/>
              </a:ext>
            </a:extLst>
          </p:cNvPr>
          <p:cNvSpPr>
            <a:spLocks noGrp="1"/>
          </p:cNvSpPr>
          <p:nvPr/>
        </p:nvSpPr>
        <p:spPr>
          <a:xfrm>
            <a:off x="13392150" y="4657437"/>
            <a:ext cx="3905250" cy="219432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>
            <a:extLst>
              <a:ext uri="{FF2B5EF4-FFF2-40B4-BE49-F238E27FC236}">
                <a16:creationId xmlns:a16="http://schemas.microsoft.com/office/drawing/2014/main" id="{9652B645-B5FF-43A8-BCFB-CE3A4501AACF}"/>
              </a:ext>
            </a:extLst>
          </p:cNvPr>
          <p:cNvSpPr>
            <a:spLocks noGrp="1"/>
          </p:cNvSpPr>
          <p:nvPr/>
        </p:nvSpPr>
        <p:spPr>
          <a:xfrm>
            <a:off x="13763625" y="5009862"/>
            <a:ext cx="34785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Prerequisito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3">
            <a:extLst>
              <a:ext uri="{FF2B5EF4-FFF2-40B4-BE49-F238E27FC236}">
                <a16:creationId xmlns:a16="http://schemas.microsoft.com/office/drawing/2014/main" id="{4C46BBEA-A1E6-4C4E-9EBA-4691342661DA}"/>
              </a:ext>
            </a:extLst>
          </p:cNvPr>
          <p:cNvSpPr>
            <a:spLocks noGrp="1"/>
          </p:cNvSpPr>
          <p:nvPr/>
        </p:nvSpPr>
        <p:spPr>
          <a:xfrm>
            <a:off x="13763625" y="5586124"/>
            <a:ext cx="3478530" cy="539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147"/>
          </a:bodyPr>
          <a:lstStyle/>
          <a:p>
            <a:pPr marL="0" marR="0" lvl="0" indent="0" algn="l">
              <a:lnSpc>
                <a:spcPct val="1351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sz="25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DOM y eventos</a:t>
            </a:r>
            <a:endParaRPr sz="25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3">
            <a:extLst>
              <a:ext uri="{FF2B5EF4-FFF2-40B4-BE49-F238E27FC236}">
                <a16:creationId xmlns:a16="http://schemas.microsoft.com/office/drawing/2014/main" id="{DC860ED5-AF92-43F6-A992-0B0A937951A0}"/>
              </a:ext>
            </a:extLst>
          </p:cNvPr>
          <p:cNvSpPr>
            <a:spLocks noGrp="1"/>
          </p:cNvSpPr>
          <p:nvPr/>
        </p:nvSpPr>
        <p:spPr>
          <a:xfrm>
            <a:off x="13763625" y="6145123"/>
            <a:ext cx="3478530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marketplace de Semana 10 listo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3" name="Google Shape;83;p3">
            <a:extLst>
              <a:ext uri="{FF2B5EF4-FFF2-40B4-BE49-F238E27FC236}">
                <a16:creationId xmlns:a16="http://schemas.microsoft.com/office/drawing/2014/main" id="{8E15DA9E-C7CD-4900-940C-7344E1895AB3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>
            <a:extLst>
              <a:ext uri="{FF2B5EF4-FFF2-40B4-BE49-F238E27FC236}">
                <a16:creationId xmlns:a16="http://schemas.microsoft.com/office/drawing/2014/main" id="{2BAF27D1-592B-412E-90F3-AF6D0294F68D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5" name="Google Shape;85;p3">
            <a:extLst>
              <a:ext uri="{FF2B5EF4-FFF2-40B4-BE49-F238E27FC236}">
                <a16:creationId xmlns:a16="http://schemas.microsoft.com/office/drawing/2014/main" id="{BE74ECED-1E36-4430-BB37-A4D02AEBC476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02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0708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>
            <a:extLst>
              <a:ext uri="{FF2B5EF4-FFF2-40B4-BE49-F238E27FC236}">
                <a16:creationId xmlns:a16="http://schemas.microsoft.com/office/drawing/2014/main" id="{E81275ED-B2EC-407E-A6C8-D54496C0C6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>
            <a:extLst>
              <a:ext uri="{FF2B5EF4-FFF2-40B4-BE49-F238E27FC236}">
                <a16:creationId xmlns:a16="http://schemas.microsoft.com/office/drawing/2014/main" id="{EF8094F2-F365-49F2-A15A-D26BA983810A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000000">
              <a:alpha val="74902"/>
            </a:srgbClr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5">
            <a:extLst>
              <a:ext uri="{FF2B5EF4-FFF2-40B4-BE49-F238E27FC236}">
                <a16:creationId xmlns:a16="http://schemas.microsoft.com/office/drawing/2014/main" id="{1ED7D680-71DF-40CE-A41A-30EAD5A586C8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4386962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OBJETIVO DE LA SESIÓN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5">
            <a:extLst>
              <a:ext uri="{FF2B5EF4-FFF2-40B4-BE49-F238E27FC236}">
                <a16:creationId xmlns:a16="http://schemas.microsoft.com/office/drawing/2014/main" id="{A8E80A59-F24F-491F-B012-487A596A2489}"/>
              </a:ext>
            </a:extLst>
          </p:cNvPr>
          <p:cNvSpPr>
            <a:spLocks noGrp="1"/>
          </p:cNvSpPr>
          <p:nvPr/>
        </p:nvSpPr>
        <p:spPr>
          <a:xfrm>
            <a:off x="990600" y="2690581"/>
            <a:ext cx="15697200" cy="18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9993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Comprender por qué algunas operaciones no terminan de inmediato y ordenar su resultado con promesas y async/await.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5">
            <a:extLst>
              <a:ext uri="{FF2B5EF4-FFF2-40B4-BE49-F238E27FC236}">
                <a16:creationId xmlns:a16="http://schemas.microsoft.com/office/drawing/2014/main" id="{38B5D70D-74C2-4500-82AF-67CB383EB306}"/>
              </a:ext>
            </a:extLst>
          </p:cNvPr>
          <p:cNvSpPr>
            <a:spLocks noGrp="1"/>
          </p:cNvSpPr>
          <p:nvPr/>
        </p:nvSpPr>
        <p:spPr>
          <a:xfrm>
            <a:off x="990600" y="5585253"/>
            <a:ext cx="14127600" cy="9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957"/>
          </a:bodyPr>
          <a:lstStyle/>
          <a:p>
            <a:pPr marL="0" marR="0" lvl="0" indent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Consultar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PokéAPI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mostrar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datos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DOM y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simular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un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correo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de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confirmación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sin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congelar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</a:t>
            </a:r>
            <a:r>
              <a:rPr sz="24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marketplace.</a:t>
            </a:r>
            <a:endParaRPr sz="24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D5614F80-B601-4A7B-B613-E7ECE226ACDC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5">
            <a:extLst>
              <a:ext uri="{FF2B5EF4-FFF2-40B4-BE49-F238E27FC236}">
                <a16:creationId xmlns:a16="http://schemas.microsoft.com/office/drawing/2014/main" id="{882E9BD4-447C-4A85-808C-36FF895C2302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ADACD6F0-E05D-4F01-A90E-EE5C846142AF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3360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>
            <a:extLst>
              <a:ext uri="{FF2B5EF4-FFF2-40B4-BE49-F238E27FC236}">
                <a16:creationId xmlns:a16="http://schemas.microsoft.com/office/drawing/2014/main" id="{CB15B3B4-4603-4CAF-996C-932A123F9DCD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6">
            <a:extLst>
              <a:ext uri="{FF2B5EF4-FFF2-40B4-BE49-F238E27FC236}">
                <a16:creationId xmlns:a16="http://schemas.microsoft.com/office/drawing/2014/main" id="{758993B9-0DF3-4633-9D56-8D1116593D20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3563169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CONCEPTOS CLAVE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6">
            <a:extLst>
              <a:ext uri="{FF2B5EF4-FFF2-40B4-BE49-F238E27FC236}">
                <a16:creationId xmlns:a16="http://schemas.microsoft.com/office/drawing/2014/main" id="{F4ECAF1F-E691-4B07-8A03-EE7C28702C6D}"/>
              </a:ext>
            </a:extLst>
          </p:cNvPr>
          <p:cNvSpPr>
            <a:spLocks noGrp="1"/>
          </p:cNvSpPr>
          <p:nvPr/>
        </p:nvSpPr>
        <p:spPr>
          <a:xfrm>
            <a:off x="990600" y="145911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Las seis piezas de hoy_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6">
            <a:extLst>
              <a:ext uri="{FF2B5EF4-FFF2-40B4-BE49-F238E27FC236}">
                <a16:creationId xmlns:a16="http://schemas.microsoft.com/office/drawing/2014/main" id="{48154D52-FBD5-4454-BB2D-64F6A402438B}"/>
              </a:ext>
            </a:extLst>
          </p:cNvPr>
          <p:cNvSpPr>
            <a:spLocks noGrp="1"/>
          </p:cNvSpPr>
          <p:nvPr/>
        </p:nvSpPr>
        <p:spPr>
          <a:xfrm>
            <a:off x="990600" y="2365037"/>
            <a:ext cx="5301704" cy="2706737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6">
            <a:extLst>
              <a:ext uri="{FF2B5EF4-FFF2-40B4-BE49-F238E27FC236}">
                <a16:creationId xmlns:a16="http://schemas.microsoft.com/office/drawing/2014/main" id="{5F141B35-646F-4595-9D24-A44021C965FE}"/>
              </a:ext>
            </a:extLst>
          </p:cNvPr>
          <p:cNvSpPr>
            <a:spLocks noGrp="1"/>
          </p:cNvSpPr>
          <p:nvPr/>
        </p:nvSpPr>
        <p:spPr>
          <a:xfrm>
            <a:off x="1362075" y="2717462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>
            <a:extLst>
              <a:ext uri="{FF2B5EF4-FFF2-40B4-BE49-F238E27FC236}">
                <a16:creationId xmlns:a16="http://schemas.microsoft.com/office/drawing/2014/main" id="{E88494C9-7BBB-4FDD-8535-7D59574DDAF0}"/>
              </a:ext>
            </a:extLst>
          </p:cNvPr>
          <p:cNvSpPr>
            <a:spLocks noGrp="1"/>
          </p:cNvSpPr>
          <p:nvPr/>
        </p:nvSpPr>
        <p:spPr>
          <a:xfrm>
            <a:off x="1323975" y="2717462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6">
            <a:extLst>
              <a:ext uri="{FF2B5EF4-FFF2-40B4-BE49-F238E27FC236}">
                <a16:creationId xmlns:a16="http://schemas.microsoft.com/office/drawing/2014/main" id="{DCEACF2F-EDCC-4FEC-AD27-B513B39854BF}"/>
              </a:ext>
            </a:extLst>
          </p:cNvPr>
          <p:cNvSpPr>
            <a:spLocks noGrp="1"/>
          </p:cNvSpPr>
          <p:nvPr/>
        </p:nvSpPr>
        <p:spPr>
          <a:xfrm>
            <a:off x="1362075" y="3288962"/>
            <a:ext cx="5014630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Asincronía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6">
            <a:extLst>
              <a:ext uri="{FF2B5EF4-FFF2-40B4-BE49-F238E27FC236}">
                <a16:creationId xmlns:a16="http://schemas.microsoft.com/office/drawing/2014/main" id="{8C90B100-CAAB-49BD-9853-5DC0FF7B1B93}"/>
              </a:ext>
            </a:extLst>
          </p:cNvPr>
          <p:cNvSpPr>
            <a:spLocks noGrp="1"/>
          </p:cNvSpPr>
          <p:nvPr/>
        </p:nvSpPr>
        <p:spPr>
          <a:xfrm>
            <a:off x="1362075" y="3763724"/>
            <a:ext cx="4695517" cy="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El programa continúa mientras una operación lenta espera su resultado.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2" name="Google Shape;112;p6">
            <a:extLst>
              <a:ext uri="{FF2B5EF4-FFF2-40B4-BE49-F238E27FC236}">
                <a16:creationId xmlns:a16="http://schemas.microsoft.com/office/drawing/2014/main" id="{90A9521E-6B68-4789-8531-ED319487E186}"/>
              </a:ext>
            </a:extLst>
          </p:cNvPr>
          <p:cNvSpPr>
            <a:spLocks noGrp="1"/>
          </p:cNvSpPr>
          <p:nvPr/>
        </p:nvSpPr>
        <p:spPr>
          <a:xfrm>
            <a:off x="6482804" y="2365037"/>
            <a:ext cx="5301704" cy="2706737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>
            <a:extLst>
              <a:ext uri="{FF2B5EF4-FFF2-40B4-BE49-F238E27FC236}">
                <a16:creationId xmlns:a16="http://schemas.microsoft.com/office/drawing/2014/main" id="{A27BD023-89B1-463F-8ADD-19F88635630A}"/>
              </a:ext>
            </a:extLst>
          </p:cNvPr>
          <p:cNvSpPr>
            <a:spLocks noGrp="1"/>
          </p:cNvSpPr>
          <p:nvPr/>
        </p:nvSpPr>
        <p:spPr>
          <a:xfrm>
            <a:off x="6854279" y="2717462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">
            <a:extLst>
              <a:ext uri="{FF2B5EF4-FFF2-40B4-BE49-F238E27FC236}">
                <a16:creationId xmlns:a16="http://schemas.microsoft.com/office/drawing/2014/main" id="{6EA6876F-B31F-4BA4-BA9E-A30F53744CD4}"/>
              </a:ext>
            </a:extLst>
          </p:cNvPr>
          <p:cNvSpPr>
            <a:spLocks noGrp="1"/>
          </p:cNvSpPr>
          <p:nvPr/>
        </p:nvSpPr>
        <p:spPr>
          <a:xfrm>
            <a:off x="6816179" y="2717462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5" name="Google Shape;115;p6">
            <a:extLst>
              <a:ext uri="{FF2B5EF4-FFF2-40B4-BE49-F238E27FC236}">
                <a16:creationId xmlns:a16="http://schemas.microsoft.com/office/drawing/2014/main" id="{CE40F92A-4BCE-484F-9DC7-1B4FE8C57184}"/>
              </a:ext>
            </a:extLst>
          </p:cNvPr>
          <p:cNvSpPr>
            <a:spLocks noGrp="1"/>
          </p:cNvSpPr>
          <p:nvPr/>
        </p:nvSpPr>
        <p:spPr>
          <a:xfrm>
            <a:off x="6854279" y="3288962"/>
            <a:ext cx="5014630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Promesas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Google Shape;116;p6">
            <a:extLst>
              <a:ext uri="{FF2B5EF4-FFF2-40B4-BE49-F238E27FC236}">
                <a16:creationId xmlns:a16="http://schemas.microsoft.com/office/drawing/2014/main" id="{0750FCD0-CF5E-4A22-BECB-35BB0CF39678}"/>
              </a:ext>
            </a:extLst>
          </p:cNvPr>
          <p:cNvSpPr>
            <a:spLocks noGrp="1"/>
          </p:cNvSpPr>
          <p:nvPr/>
        </p:nvSpPr>
        <p:spPr>
          <a:xfrm>
            <a:off x="6854279" y="3763724"/>
            <a:ext cx="4695517" cy="68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8169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443E35"/>
                </a:solidFill>
                <a:latin typeface="Courier New"/>
                <a:ea typeface="Courier New"/>
                <a:cs typeface="Courier New"/>
              </a:rPr>
              <a:t>pending, fulfilled y rejected representan el resultado futuro.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7" name="Google Shape;117;p6">
            <a:extLst>
              <a:ext uri="{FF2B5EF4-FFF2-40B4-BE49-F238E27FC236}">
                <a16:creationId xmlns:a16="http://schemas.microsoft.com/office/drawing/2014/main" id="{71330106-D757-4163-BC15-FA6F5A27987C}"/>
              </a:ext>
            </a:extLst>
          </p:cNvPr>
          <p:cNvSpPr>
            <a:spLocks noGrp="1"/>
          </p:cNvSpPr>
          <p:nvPr/>
        </p:nvSpPr>
        <p:spPr>
          <a:xfrm>
            <a:off x="11975009" y="2365037"/>
            <a:ext cx="5301704" cy="2706737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>
            <a:extLst>
              <a:ext uri="{FF2B5EF4-FFF2-40B4-BE49-F238E27FC236}">
                <a16:creationId xmlns:a16="http://schemas.microsoft.com/office/drawing/2014/main" id="{25C63B5A-F4E0-4834-81F3-E40B268EABB1}"/>
              </a:ext>
            </a:extLst>
          </p:cNvPr>
          <p:cNvSpPr>
            <a:spLocks noGrp="1"/>
          </p:cNvSpPr>
          <p:nvPr/>
        </p:nvSpPr>
        <p:spPr>
          <a:xfrm>
            <a:off x="12346484" y="2717462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>
            <a:extLst>
              <a:ext uri="{FF2B5EF4-FFF2-40B4-BE49-F238E27FC236}">
                <a16:creationId xmlns:a16="http://schemas.microsoft.com/office/drawing/2014/main" id="{9FA8BFD9-922D-4ABC-8A53-94A7C7CBD672}"/>
              </a:ext>
            </a:extLst>
          </p:cNvPr>
          <p:cNvSpPr>
            <a:spLocks noGrp="1"/>
          </p:cNvSpPr>
          <p:nvPr/>
        </p:nvSpPr>
        <p:spPr>
          <a:xfrm>
            <a:off x="12308384" y="2717462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0" name="Google Shape;120;p6">
            <a:extLst>
              <a:ext uri="{FF2B5EF4-FFF2-40B4-BE49-F238E27FC236}">
                <a16:creationId xmlns:a16="http://schemas.microsoft.com/office/drawing/2014/main" id="{E92F19EB-DB43-4BF0-81F4-F272A6FA9808}"/>
              </a:ext>
            </a:extLst>
          </p:cNvPr>
          <p:cNvSpPr>
            <a:spLocks noGrp="1"/>
          </p:cNvSpPr>
          <p:nvPr/>
        </p:nvSpPr>
        <p:spPr>
          <a:xfrm>
            <a:off x="12346484" y="3288962"/>
            <a:ext cx="5014630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.then() y .catch()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1" name="Google Shape;121;p6">
            <a:extLst>
              <a:ext uri="{FF2B5EF4-FFF2-40B4-BE49-F238E27FC236}">
                <a16:creationId xmlns:a16="http://schemas.microsoft.com/office/drawing/2014/main" id="{0C2C5726-A71E-4D36-ADFF-3E5D488DCF8C}"/>
              </a:ext>
            </a:extLst>
          </p:cNvPr>
          <p:cNvSpPr>
            <a:spLocks noGrp="1"/>
          </p:cNvSpPr>
          <p:nvPr/>
        </p:nvSpPr>
        <p:spPr>
          <a:xfrm>
            <a:off x="12346484" y="3763724"/>
            <a:ext cx="4695517" cy="99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865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443E35"/>
                </a:solidFill>
                <a:latin typeface="Courier New"/>
                <a:ea typeface="Courier New"/>
                <a:cs typeface="Courier New"/>
              </a:rPr>
              <a:t>then recibe el éxito; catch recibe el error; finally siempre termina el flujo.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2" name="Google Shape;122;p6">
            <a:extLst>
              <a:ext uri="{FF2B5EF4-FFF2-40B4-BE49-F238E27FC236}">
                <a16:creationId xmlns:a16="http://schemas.microsoft.com/office/drawing/2014/main" id="{A15A7FA3-9F3B-4D0C-BCAB-2E1C75F9BB53}"/>
              </a:ext>
            </a:extLst>
          </p:cNvPr>
          <p:cNvSpPr>
            <a:spLocks noGrp="1"/>
          </p:cNvSpPr>
          <p:nvPr/>
        </p:nvSpPr>
        <p:spPr>
          <a:xfrm>
            <a:off x="990600" y="5262274"/>
            <a:ext cx="5301704" cy="2400895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>
            <a:extLst>
              <a:ext uri="{FF2B5EF4-FFF2-40B4-BE49-F238E27FC236}">
                <a16:creationId xmlns:a16="http://schemas.microsoft.com/office/drawing/2014/main" id="{7B89CEDF-B47D-41D5-85B9-4C2E3DE68E65}"/>
              </a:ext>
            </a:extLst>
          </p:cNvPr>
          <p:cNvSpPr>
            <a:spLocks noGrp="1"/>
          </p:cNvSpPr>
          <p:nvPr/>
        </p:nvSpPr>
        <p:spPr>
          <a:xfrm>
            <a:off x="1362075" y="5614699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>
            <a:extLst>
              <a:ext uri="{FF2B5EF4-FFF2-40B4-BE49-F238E27FC236}">
                <a16:creationId xmlns:a16="http://schemas.microsoft.com/office/drawing/2014/main" id="{BF146C3B-52AB-4475-9CFC-C8B676513899}"/>
              </a:ext>
            </a:extLst>
          </p:cNvPr>
          <p:cNvSpPr>
            <a:spLocks noGrp="1"/>
          </p:cNvSpPr>
          <p:nvPr/>
        </p:nvSpPr>
        <p:spPr>
          <a:xfrm>
            <a:off x="1323975" y="5614699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5" name="Google Shape;125;p6">
            <a:extLst>
              <a:ext uri="{FF2B5EF4-FFF2-40B4-BE49-F238E27FC236}">
                <a16:creationId xmlns:a16="http://schemas.microsoft.com/office/drawing/2014/main" id="{FAE516B8-3A1A-4FAC-839C-0F57FCC10D76}"/>
              </a:ext>
            </a:extLst>
          </p:cNvPr>
          <p:cNvSpPr>
            <a:spLocks noGrp="1"/>
          </p:cNvSpPr>
          <p:nvPr/>
        </p:nvSpPr>
        <p:spPr>
          <a:xfrm>
            <a:off x="1362075" y="6186199"/>
            <a:ext cx="5014630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async/await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6" name="Google Shape;126;p6">
            <a:extLst>
              <a:ext uri="{FF2B5EF4-FFF2-40B4-BE49-F238E27FC236}">
                <a16:creationId xmlns:a16="http://schemas.microsoft.com/office/drawing/2014/main" id="{1F15B7E8-0440-4B11-BF20-E55448B63AE7}"/>
              </a:ext>
            </a:extLst>
          </p:cNvPr>
          <p:cNvSpPr>
            <a:spLocks noGrp="1"/>
          </p:cNvSpPr>
          <p:nvPr/>
        </p:nvSpPr>
        <p:spPr>
          <a:xfrm>
            <a:off x="1362075" y="6660961"/>
            <a:ext cx="4695517" cy="68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80456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443E35"/>
                </a:solidFill>
                <a:latin typeface="Courier New"/>
                <a:ea typeface="Courier New"/>
                <a:cs typeface="Courier New"/>
              </a:rPr>
              <a:t>await pausa esa función; try/catch/finally ordena éxito, error y limpieza.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7" name="Google Shape;127;p6">
            <a:extLst>
              <a:ext uri="{FF2B5EF4-FFF2-40B4-BE49-F238E27FC236}">
                <a16:creationId xmlns:a16="http://schemas.microsoft.com/office/drawing/2014/main" id="{646350A7-DC62-4D7E-95A8-6D0F2938532D}"/>
              </a:ext>
            </a:extLst>
          </p:cNvPr>
          <p:cNvSpPr>
            <a:spLocks noGrp="1"/>
          </p:cNvSpPr>
          <p:nvPr/>
        </p:nvSpPr>
        <p:spPr>
          <a:xfrm>
            <a:off x="6482804" y="5262274"/>
            <a:ext cx="5301704" cy="2400895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>
            <a:extLst>
              <a:ext uri="{FF2B5EF4-FFF2-40B4-BE49-F238E27FC236}">
                <a16:creationId xmlns:a16="http://schemas.microsoft.com/office/drawing/2014/main" id="{D6238189-BAC7-40F4-8C9E-20CAEF7A30BD}"/>
              </a:ext>
            </a:extLst>
          </p:cNvPr>
          <p:cNvSpPr>
            <a:spLocks noGrp="1"/>
          </p:cNvSpPr>
          <p:nvPr/>
        </p:nvSpPr>
        <p:spPr>
          <a:xfrm>
            <a:off x="6854279" y="5614699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>
            <a:extLst>
              <a:ext uri="{FF2B5EF4-FFF2-40B4-BE49-F238E27FC236}">
                <a16:creationId xmlns:a16="http://schemas.microsoft.com/office/drawing/2014/main" id="{88222159-F8CA-4E84-8EAB-365A62F08815}"/>
              </a:ext>
            </a:extLst>
          </p:cNvPr>
          <p:cNvSpPr>
            <a:spLocks noGrp="1"/>
          </p:cNvSpPr>
          <p:nvPr/>
        </p:nvSpPr>
        <p:spPr>
          <a:xfrm>
            <a:off x="6816179" y="5614699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0" name="Google Shape;130;p6">
            <a:extLst>
              <a:ext uri="{FF2B5EF4-FFF2-40B4-BE49-F238E27FC236}">
                <a16:creationId xmlns:a16="http://schemas.microsoft.com/office/drawing/2014/main" id="{C7D7B4FB-8E79-46AA-8D41-ECB05ED89A1D}"/>
              </a:ext>
            </a:extLst>
          </p:cNvPr>
          <p:cNvSpPr>
            <a:spLocks noGrp="1"/>
          </p:cNvSpPr>
          <p:nvPr/>
        </p:nvSpPr>
        <p:spPr>
          <a:xfrm>
            <a:off x="6854279" y="6186199"/>
            <a:ext cx="5014630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fetch y API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Google Shape;131;p6">
            <a:extLst>
              <a:ext uri="{FF2B5EF4-FFF2-40B4-BE49-F238E27FC236}">
                <a16:creationId xmlns:a16="http://schemas.microsoft.com/office/drawing/2014/main" id="{824B505C-F32D-4E6A-ADA3-488C90C602D3}"/>
              </a:ext>
            </a:extLst>
          </p:cNvPr>
          <p:cNvSpPr>
            <a:spLocks noGrp="1"/>
          </p:cNvSpPr>
          <p:nvPr/>
        </p:nvSpPr>
        <p:spPr>
          <a:xfrm>
            <a:off x="6854279" y="6660961"/>
            <a:ext cx="4695517" cy="68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8169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443E35"/>
                </a:solidFill>
                <a:latin typeface="Courier New"/>
                <a:ea typeface="Courier New"/>
                <a:cs typeface="Courier New"/>
              </a:rPr>
              <a:t>Dos esperas: respuesta HTTP y conversión con respuesta.json().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2" name="Google Shape;132;p6">
            <a:extLst>
              <a:ext uri="{FF2B5EF4-FFF2-40B4-BE49-F238E27FC236}">
                <a16:creationId xmlns:a16="http://schemas.microsoft.com/office/drawing/2014/main" id="{509D1C12-3FFB-4681-BA49-7C1788671D2D}"/>
              </a:ext>
            </a:extLst>
          </p:cNvPr>
          <p:cNvSpPr>
            <a:spLocks noGrp="1"/>
          </p:cNvSpPr>
          <p:nvPr/>
        </p:nvSpPr>
        <p:spPr>
          <a:xfrm>
            <a:off x="11975009" y="5262274"/>
            <a:ext cx="5301704" cy="240089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>
            <a:extLst>
              <a:ext uri="{FF2B5EF4-FFF2-40B4-BE49-F238E27FC236}">
                <a16:creationId xmlns:a16="http://schemas.microsoft.com/office/drawing/2014/main" id="{8A4BECEB-AE12-4019-AEDA-28A0A1459F86}"/>
              </a:ext>
            </a:extLst>
          </p:cNvPr>
          <p:cNvSpPr>
            <a:spLocks noGrp="1"/>
          </p:cNvSpPr>
          <p:nvPr/>
        </p:nvSpPr>
        <p:spPr>
          <a:xfrm>
            <a:off x="12336959" y="5605174"/>
            <a:ext cx="438150" cy="4381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>
            <a:extLst>
              <a:ext uri="{FF2B5EF4-FFF2-40B4-BE49-F238E27FC236}">
                <a16:creationId xmlns:a16="http://schemas.microsoft.com/office/drawing/2014/main" id="{B78ACFFA-E133-418A-BE3F-727E510EC54E}"/>
              </a:ext>
            </a:extLst>
          </p:cNvPr>
          <p:cNvSpPr>
            <a:spLocks noGrp="1"/>
          </p:cNvSpPr>
          <p:nvPr/>
        </p:nvSpPr>
        <p:spPr>
          <a:xfrm>
            <a:off x="12298859" y="560517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051BB64E-FB9B-4891-82E7-21C2F9079A15}"/>
              </a:ext>
            </a:extLst>
          </p:cNvPr>
          <p:cNvSpPr>
            <a:spLocks noGrp="1"/>
          </p:cNvSpPr>
          <p:nvPr/>
        </p:nvSpPr>
        <p:spPr>
          <a:xfrm>
            <a:off x="12336959" y="6176674"/>
            <a:ext cx="5035585" cy="43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616"/>
          </a:bodyPr>
          <a:lstStyle/>
          <a:p>
            <a:pPr marL="0" marR="0" lvl="0" indent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Node.js y npm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EEA7AEDB-0A7D-44C3-A252-2FB506D4F2D8}"/>
              </a:ext>
            </a:extLst>
          </p:cNvPr>
          <p:cNvSpPr>
            <a:spLocks noGrp="1"/>
          </p:cNvSpPr>
          <p:nvPr/>
        </p:nvSpPr>
        <p:spPr>
          <a:xfrm>
            <a:off x="12336959" y="6651436"/>
            <a:ext cx="4715138" cy="668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5234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JavaScript fuera del navegador y un servidor local que escucha peticiones.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7" name="Google Shape;137;p6">
            <a:extLst>
              <a:ext uri="{FF2B5EF4-FFF2-40B4-BE49-F238E27FC236}">
                <a16:creationId xmlns:a16="http://schemas.microsoft.com/office/drawing/2014/main" id="{DD0AFC7B-1C5F-461B-A501-D0B3C3698CAB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>
            <a:extLst>
              <a:ext uri="{FF2B5EF4-FFF2-40B4-BE49-F238E27FC236}">
                <a16:creationId xmlns:a16="http://schemas.microsoft.com/office/drawing/2014/main" id="{6EFD1750-38E7-420F-81F0-F7EA42E8F78D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9" name="Google Shape;139;p6">
            <a:extLst>
              <a:ext uri="{FF2B5EF4-FFF2-40B4-BE49-F238E27FC236}">
                <a16:creationId xmlns:a16="http://schemas.microsoft.com/office/drawing/2014/main" id="{310C281C-0B2D-4287-AC33-E41E268E98BB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04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4648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>
            <a:extLst>
              <a:ext uri="{FF2B5EF4-FFF2-40B4-BE49-F238E27FC236}">
                <a16:creationId xmlns:a16="http://schemas.microsoft.com/office/drawing/2014/main" id="{73FA86D8-0828-4E60-909E-9668795A80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2">
            <a:extLst>
              <a:ext uri="{FF2B5EF4-FFF2-40B4-BE49-F238E27FC236}">
                <a16:creationId xmlns:a16="http://schemas.microsoft.com/office/drawing/2014/main" id="{EE97C661-9782-49D0-A278-95B391DEEDC9}"/>
              </a:ext>
            </a:extLst>
          </p:cNvPr>
          <p:cNvSpPr>
            <a:spLocks noGrp="1"/>
          </p:cNvSpPr>
          <p:nvPr/>
        </p:nvSpPr>
        <p:spPr>
          <a:xfrm>
            <a:off x="990600" y="2834283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2">
            <a:extLst>
              <a:ext uri="{FF2B5EF4-FFF2-40B4-BE49-F238E27FC236}">
                <a16:creationId xmlns:a16="http://schemas.microsoft.com/office/drawing/2014/main" id="{49C4C986-AED2-496A-9C65-49922F38DECD}"/>
              </a:ext>
            </a:extLst>
          </p:cNvPr>
          <p:cNvSpPr>
            <a:spLocks noGrp="1"/>
          </p:cNvSpPr>
          <p:nvPr/>
        </p:nvSpPr>
        <p:spPr>
          <a:xfrm>
            <a:off x="1238250" y="2714327"/>
            <a:ext cx="688895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CFC5B7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CFC5B7"/>
                </a:solidFill>
                <a:latin typeface="Arial"/>
                <a:ea typeface="Arial"/>
                <a:cs typeface="Arial"/>
              </a:rPr>
              <a:t>BLOQUE 1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4" name="Google Shape;194;p12">
            <a:extLst>
              <a:ext uri="{FF2B5EF4-FFF2-40B4-BE49-F238E27FC236}">
                <a16:creationId xmlns:a16="http://schemas.microsoft.com/office/drawing/2014/main" id="{177C9E8F-F1C6-407B-9AB5-05390C5F6DF5}"/>
              </a:ext>
            </a:extLst>
          </p:cNvPr>
          <p:cNvSpPr>
            <a:spLocks noGrp="1"/>
          </p:cNvSpPr>
          <p:nvPr/>
        </p:nvSpPr>
        <p:spPr>
          <a:xfrm>
            <a:off x="990600" y="3335239"/>
            <a:ext cx="15304770" cy="131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9739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Arial"/>
              <a:buNone/>
            </a:pPr>
            <a:r>
              <a:rPr sz="45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El mesero no espera junto a la cocina_</a:t>
            </a:r>
            <a:endParaRPr sz="4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5" name="Google Shape;195;p12">
            <a:extLst>
              <a:ext uri="{FF2B5EF4-FFF2-40B4-BE49-F238E27FC236}">
                <a16:creationId xmlns:a16="http://schemas.microsoft.com/office/drawing/2014/main" id="{D88549BD-8DC3-4B22-AA6C-5E668DB6171C}"/>
              </a:ext>
            </a:extLst>
          </p:cNvPr>
          <p:cNvSpPr>
            <a:spLocks noGrp="1"/>
          </p:cNvSpPr>
          <p:nvPr/>
        </p:nvSpPr>
        <p:spPr>
          <a:xfrm>
            <a:off x="990600" y="5034332"/>
            <a:ext cx="5289500" cy="2614464"/>
          </a:xfrm>
          <a:prstGeom prst="rect">
            <a:avLst/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2">
            <a:extLst>
              <a:ext uri="{FF2B5EF4-FFF2-40B4-BE49-F238E27FC236}">
                <a16:creationId xmlns:a16="http://schemas.microsoft.com/office/drawing/2014/main" id="{6ED4475A-A116-4411-9F5C-E1824E0FB1BA}"/>
              </a:ext>
            </a:extLst>
          </p:cNvPr>
          <p:cNvSpPr>
            <a:spLocks noGrp="1"/>
          </p:cNvSpPr>
          <p:nvPr/>
        </p:nvSpPr>
        <p:spPr>
          <a:xfrm>
            <a:off x="1362075" y="5386757"/>
            <a:ext cx="5001205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🧑‍🍳 Pedido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7" name="Google Shape;197;p12">
            <a:extLst>
              <a:ext uri="{FF2B5EF4-FFF2-40B4-BE49-F238E27FC236}">
                <a16:creationId xmlns:a16="http://schemas.microsoft.com/office/drawing/2014/main" id="{BB9DB622-C383-4A54-ADC1-98D671467F7F}"/>
              </a:ext>
            </a:extLst>
          </p:cNvPr>
          <p:cNvSpPr>
            <a:spLocks noGrp="1"/>
          </p:cNvSpPr>
          <p:nvPr/>
        </p:nvSpPr>
        <p:spPr>
          <a:xfrm>
            <a:off x="1362075" y="6001119"/>
            <a:ext cx="571500" cy="2857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2">
            <a:extLst>
              <a:ext uri="{FF2B5EF4-FFF2-40B4-BE49-F238E27FC236}">
                <a16:creationId xmlns:a16="http://schemas.microsoft.com/office/drawing/2014/main" id="{CA7A5986-5299-4156-8317-E6F95E09256A}"/>
              </a:ext>
            </a:extLst>
          </p:cNvPr>
          <p:cNvSpPr>
            <a:spLocks noGrp="1"/>
          </p:cNvSpPr>
          <p:nvPr/>
        </p:nvSpPr>
        <p:spPr>
          <a:xfrm>
            <a:off x="1362075" y="6201144"/>
            <a:ext cx="4682947" cy="1133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8209"/>
          </a:bodyPr>
          <a:lstStyle/>
          <a:p>
            <a:pPr marL="0" marR="0" lvl="0" indent="0" algn="l">
              <a:lnSpc>
                <a:spcPct val="123677"/>
              </a:lnSpc>
              <a:spcBef>
                <a:spcPts val="0"/>
              </a:spcBef>
              <a:spcAft>
                <a:spcPts val="0"/>
              </a:spcAft>
              <a:buClr>
                <a:srgbClr val="E2DCD3"/>
              </a:buClr>
              <a:buSzPts val="2025"/>
              <a:buFont typeface="Arial"/>
              <a:buNone/>
            </a:pPr>
            <a:r>
              <a:rPr sz="2025" b="0" i="0" u="none" cap="none">
                <a:solidFill>
                  <a:srgbClr val="E2DCD3"/>
                </a:solidFill>
                <a:latin typeface="Arial"/>
                <a:ea typeface="Arial"/>
                <a:cs typeface="Arial"/>
              </a:rPr>
              <a:t>El cliente pide datos: la operación empieza, pero el resultado aún no existe.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9" name="Google Shape;199;p12">
            <a:extLst>
              <a:ext uri="{FF2B5EF4-FFF2-40B4-BE49-F238E27FC236}">
                <a16:creationId xmlns:a16="http://schemas.microsoft.com/office/drawing/2014/main" id="{7AAA5207-E4C3-42DC-BB23-B3EBFA6E447C}"/>
              </a:ext>
            </a:extLst>
          </p:cNvPr>
          <p:cNvSpPr>
            <a:spLocks noGrp="1"/>
          </p:cNvSpPr>
          <p:nvPr/>
        </p:nvSpPr>
        <p:spPr>
          <a:xfrm>
            <a:off x="6508700" y="5034332"/>
            <a:ext cx="5289649" cy="2614464"/>
          </a:xfrm>
          <a:prstGeom prst="rect">
            <a:avLst/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2">
            <a:extLst>
              <a:ext uri="{FF2B5EF4-FFF2-40B4-BE49-F238E27FC236}">
                <a16:creationId xmlns:a16="http://schemas.microsoft.com/office/drawing/2014/main" id="{BBB25709-F165-445F-9F5A-992651902E33}"/>
              </a:ext>
            </a:extLst>
          </p:cNvPr>
          <p:cNvSpPr>
            <a:spLocks noGrp="1"/>
          </p:cNvSpPr>
          <p:nvPr/>
        </p:nvSpPr>
        <p:spPr>
          <a:xfrm>
            <a:off x="6880175" y="5386757"/>
            <a:ext cx="5001369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🍳 Cocina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1" name="Google Shape;201;p12">
            <a:extLst>
              <a:ext uri="{FF2B5EF4-FFF2-40B4-BE49-F238E27FC236}">
                <a16:creationId xmlns:a16="http://schemas.microsoft.com/office/drawing/2014/main" id="{9147D0D9-B1BC-4C4C-A644-884D80DCEF13}"/>
              </a:ext>
            </a:extLst>
          </p:cNvPr>
          <p:cNvSpPr>
            <a:spLocks noGrp="1"/>
          </p:cNvSpPr>
          <p:nvPr/>
        </p:nvSpPr>
        <p:spPr>
          <a:xfrm>
            <a:off x="6880175" y="6001119"/>
            <a:ext cx="571500" cy="2857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2">
            <a:extLst>
              <a:ext uri="{FF2B5EF4-FFF2-40B4-BE49-F238E27FC236}">
                <a16:creationId xmlns:a16="http://schemas.microsoft.com/office/drawing/2014/main" id="{EA74E29B-4E9F-4AD4-AA00-A2462BCC7483}"/>
              </a:ext>
            </a:extLst>
          </p:cNvPr>
          <p:cNvSpPr>
            <a:spLocks noGrp="1"/>
          </p:cNvSpPr>
          <p:nvPr/>
        </p:nvSpPr>
        <p:spPr>
          <a:xfrm>
            <a:off x="6880175" y="6201144"/>
            <a:ext cx="4683100" cy="1133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3677"/>
              </a:lnSpc>
              <a:spcBef>
                <a:spcPts val="0"/>
              </a:spcBef>
              <a:spcAft>
                <a:spcPts val="0"/>
              </a:spcAft>
              <a:buClr>
                <a:srgbClr val="E2DCD3"/>
              </a:buClr>
              <a:buSzPts val="2025"/>
              <a:buFont typeface="Arial"/>
              <a:buNone/>
            </a:pPr>
            <a:r>
              <a:rPr sz="2025" b="0" i="0" u="none" cap="none">
                <a:solidFill>
                  <a:srgbClr val="E2DCD3"/>
                </a:solidFill>
                <a:latin typeface="Arial"/>
                <a:ea typeface="Arial"/>
                <a:cs typeface="Arial"/>
              </a:rPr>
              <a:t>La red o el servidor procesa la solicitud sin bloquear la atención de otras mesas.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3" name="Google Shape;203;p12">
            <a:extLst>
              <a:ext uri="{FF2B5EF4-FFF2-40B4-BE49-F238E27FC236}">
                <a16:creationId xmlns:a16="http://schemas.microsoft.com/office/drawing/2014/main" id="{BA09D17E-214A-41F3-953D-EC86B360CAF6}"/>
              </a:ext>
            </a:extLst>
          </p:cNvPr>
          <p:cNvSpPr>
            <a:spLocks noGrp="1"/>
          </p:cNvSpPr>
          <p:nvPr/>
        </p:nvSpPr>
        <p:spPr>
          <a:xfrm>
            <a:off x="12026950" y="5034332"/>
            <a:ext cx="5270450" cy="2614464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2">
            <a:extLst>
              <a:ext uri="{FF2B5EF4-FFF2-40B4-BE49-F238E27FC236}">
                <a16:creationId xmlns:a16="http://schemas.microsoft.com/office/drawing/2014/main" id="{F8736D32-1D8B-451C-8964-8F8B5463A164}"/>
              </a:ext>
            </a:extLst>
          </p:cNvPr>
          <p:cNvSpPr>
            <a:spLocks noGrp="1"/>
          </p:cNvSpPr>
          <p:nvPr/>
        </p:nvSpPr>
        <p:spPr>
          <a:xfrm>
            <a:off x="12388900" y="5377232"/>
            <a:ext cx="5001205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🍽️ Promesa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5" name="Google Shape;205;p12">
            <a:extLst>
              <a:ext uri="{FF2B5EF4-FFF2-40B4-BE49-F238E27FC236}">
                <a16:creationId xmlns:a16="http://schemas.microsoft.com/office/drawing/2014/main" id="{EC976985-5E93-4BC3-BA1E-83D1FBA55B39}"/>
              </a:ext>
            </a:extLst>
          </p:cNvPr>
          <p:cNvSpPr>
            <a:spLocks noGrp="1"/>
          </p:cNvSpPr>
          <p:nvPr/>
        </p:nvSpPr>
        <p:spPr>
          <a:xfrm>
            <a:off x="12388900" y="5991594"/>
            <a:ext cx="571500" cy="2857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2">
            <a:extLst>
              <a:ext uri="{FF2B5EF4-FFF2-40B4-BE49-F238E27FC236}">
                <a16:creationId xmlns:a16="http://schemas.microsoft.com/office/drawing/2014/main" id="{10D27056-DA58-4EA6-90E0-345666FA3640}"/>
              </a:ext>
            </a:extLst>
          </p:cNvPr>
          <p:cNvSpPr>
            <a:spLocks noGrp="1"/>
          </p:cNvSpPr>
          <p:nvPr/>
        </p:nvSpPr>
        <p:spPr>
          <a:xfrm>
            <a:off x="12388900" y="6191619"/>
            <a:ext cx="4682947" cy="1133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5672"/>
          </a:bodyPr>
          <a:lstStyle/>
          <a:p>
            <a:pPr marL="0" marR="0" lvl="0" indent="0" algn="l">
              <a:lnSpc>
                <a:spcPct val="1236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cocina avisa cuando resuelve el plato o cuando debe rechazarlo por un problema.</a:t>
            </a:r>
            <a:endParaRPr sz="20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7" name="Google Shape;207;p12">
            <a:extLst>
              <a:ext uri="{FF2B5EF4-FFF2-40B4-BE49-F238E27FC236}">
                <a16:creationId xmlns:a16="http://schemas.microsoft.com/office/drawing/2014/main" id="{E1BCB350-63DC-41F6-B384-41F54931DDFD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2">
            <a:extLst>
              <a:ext uri="{FF2B5EF4-FFF2-40B4-BE49-F238E27FC236}">
                <a16:creationId xmlns:a16="http://schemas.microsoft.com/office/drawing/2014/main" id="{645D5B66-4FC6-4347-B4BF-7A39B743778A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B8A894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B8A894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9" name="Google Shape;209;p12">
            <a:extLst>
              <a:ext uri="{FF2B5EF4-FFF2-40B4-BE49-F238E27FC236}">
                <a16:creationId xmlns:a16="http://schemas.microsoft.com/office/drawing/2014/main" id="{8723ABBB-71BA-466A-886B-B9ABE830AF28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B8A894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B8A894"/>
                </a:solidFill>
                <a:latin typeface="Arial"/>
                <a:ea typeface="Arial"/>
                <a:cs typeface="Arial"/>
              </a:rPr>
              <a:t>05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269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>
            <a:extLst>
              <a:ext uri="{FF2B5EF4-FFF2-40B4-BE49-F238E27FC236}">
                <a16:creationId xmlns:a16="http://schemas.microsoft.com/office/drawing/2014/main" id="{7D7CD88C-A1E5-4C45-911C-28FF1E45D4B8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1">
            <a:extLst>
              <a:ext uri="{FF2B5EF4-FFF2-40B4-BE49-F238E27FC236}">
                <a16:creationId xmlns:a16="http://schemas.microsoft.com/office/drawing/2014/main" id="{29DEF4CF-50BF-4D71-81B7-CEF09AA9CB73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4944234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PREDICCIÓN · ORDEN DE EJECUCIÓN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3" name="Google Shape;173;p11">
            <a:extLst>
              <a:ext uri="{FF2B5EF4-FFF2-40B4-BE49-F238E27FC236}">
                <a16:creationId xmlns:a16="http://schemas.microsoft.com/office/drawing/2014/main" id="{9AB27388-66F8-462F-947B-918EE4A51198}"/>
              </a:ext>
            </a:extLst>
          </p:cNvPr>
          <p:cNvSpPr>
            <a:spLocks noGrp="1"/>
          </p:cNvSpPr>
          <p:nvPr/>
        </p:nvSpPr>
        <p:spPr>
          <a:xfrm>
            <a:off x="990600" y="2715412"/>
            <a:ext cx="9391650" cy="733425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11">
            <a:extLst>
              <a:ext uri="{FF2B5EF4-FFF2-40B4-BE49-F238E27FC236}">
                <a16:creationId xmlns:a16="http://schemas.microsoft.com/office/drawing/2014/main" id="{10D69990-29EA-4C45-9D80-7957911DEAD8}"/>
              </a:ext>
            </a:extLst>
          </p:cNvPr>
          <p:cNvSpPr>
            <a:spLocks noGrp="1"/>
          </p:cNvSpPr>
          <p:nvPr/>
        </p:nvSpPr>
        <p:spPr>
          <a:xfrm>
            <a:off x="1247775" y="2915437"/>
            <a:ext cx="976503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984"/>
          </a:bodyPr>
          <a:lstStyle/>
          <a:p>
            <a:pPr marL="0" marR="0" lvl="0" indent="0" algn="l">
              <a:lnSpc>
                <a:spcPct val="120690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75"/>
              <a:buFont typeface="Arial"/>
              <a:buNone/>
            </a:pPr>
            <a:r>
              <a:rPr sz="1875" b="0" i="1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¿Qué mensaje aparece primero?</a:t>
            </a:r>
            <a:endParaRPr sz="187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5" name="Google Shape;175;p11">
            <a:extLst>
              <a:ext uri="{FF2B5EF4-FFF2-40B4-BE49-F238E27FC236}">
                <a16:creationId xmlns:a16="http://schemas.microsoft.com/office/drawing/2014/main" id="{0BADD7E8-3198-48DD-AB74-9754C4E51729}"/>
              </a:ext>
            </a:extLst>
          </p:cNvPr>
          <p:cNvSpPr>
            <a:spLocks noGrp="1"/>
          </p:cNvSpPr>
          <p:nvPr/>
        </p:nvSpPr>
        <p:spPr>
          <a:xfrm>
            <a:off x="990600" y="3563137"/>
            <a:ext cx="9391650" cy="733425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1">
            <a:extLst>
              <a:ext uri="{FF2B5EF4-FFF2-40B4-BE49-F238E27FC236}">
                <a16:creationId xmlns:a16="http://schemas.microsoft.com/office/drawing/2014/main" id="{831B415A-6CBC-4D16-A5AE-2F7E4BD48294}"/>
              </a:ext>
            </a:extLst>
          </p:cNvPr>
          <p:cNvSpPr>
            <a:spLocks noGrp="1"/>
          </p:cNvSpPr>
          <p:nvPr/>
        </p:nvSpPr>
        <p:spPr>
          <a:xfrm>
            <a:off x="1247775" y="3763162"/>
            <a:ext cx="976503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85484"/>
          </a:bodyPr>
          <a:lstStyle/>
          <a:p>
            <a:pPr marL="0" marR="0" lvl="0" indent="0" algn="l">
              <a:lnSpc>
                <a:spcPct val="120690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75"/>
              <a:buFont typeface="Arial"/>
              <a:buNone/>
            </a:pPr>
            <a:r>
              <a:rPr sz="1875" b="0" i="1" u="none" cap="none" dirty="0">
                <a:latin typeface="Arial"/>
                <a:ea typeface="Arial"/>
                <a:cs typeface="Arial"/>
              </a:rPr>
              <a:t>A. ''</a:t>
            </a:r>
            <a:r>
              <a:rPr lang="es-MX" sz="2000" b="1" i="1" u="none" cap="none" dirty="0">
                <a:latin typeface="Courier New"/>
                <a:ea typeface="Courier New"/>
                <a:cs typeface="Courier New"/>
              </a:rPr>
              <a:t> Tu plato está listo</a:t>
            </a:r>
            <a:endParaRPr sz="1875" b="0" i="0" u="none" cap="none" dirty="0">
              <a:latin typeface="Calibri"/>
              <a:ea typeface="Calibri"/>
              <a:cs typeface="Calibri"/>
            </a:endParaRPr>
          </a:p>
        </p:txBody>
      </p:sp>
      <p:sp>
        <p:nvSpPr>
          <p:cNvPr id="177" name="Google Shape;177;p11">
            <a:extLst>
              <a:ext uri="{FF2B5EF4-FFF2-40B4-BE49-F238E27FC236}">
                <a16:creationId xmlns:a16="http://schemas.microsoft.com/office/drawing/2014/main" id="{7B8A3581-58A7-422D-86A7-F08DD86D3142}"/>
              </a:ext>
            </a:extLst>
          </p:cNvPr>
          <p:cNvSpPr>
            <a:spLocks noGrp="1"/>
          </p:cNvSpPr>
          <p:nvPr/>
        </p:nvSpPr>
        <p:spPr>
          <a:xfrm>
            <a:off x="990600" y="4410862"/>
            <a:ext cx="9391650" cy="733425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">
            <a:extLst>
              <a:ext uri="{FF2B5EF4-FFF2-40B4-BE49-F238E27FC236}">
                <a16:creationId xmlns:a16="http://schemas.microsoft.com/office/drawing/2014/main" id="{BA43E8B5-29BE-44BD-B3D7-6B2B02841595}"/>
              </a:ext>
            </a:extLst>
          </p:cNvPr>
          <p:cNvSpPr>
            <a:spLocks noGrp="1"/>
          </p:cNvSpPr>
          <p:nvPr/>
        </p:nvSpPr>
        <p:spPr>
          <a:xfrm>
            <a:off x="1247775" y="4610887"/>
            <a:ext cx="976503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85484"/>
          </a:bodyPr>
          <a:lstStyle/>
          <a:p>
            <a:pPr marL="0" marR="0" lvl="0" indent="0" algn="l">
              <a:lnSpc>
                <a:spcPct val="120690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75"/>
              <a:buFont typeface="Arial"/>
              <a:buNone/>
            </a:pPr>
            <a:r>
              <a:rPr sz="1875" b="0" i="1" u="none" cap="none" dirty="0">
                <a:latin typeface="Arial"/>
                <a:ea typeface="Arial"/>
                <a:cs typeface="Arial"/>
              </a:rPr>
              <a:t>B. '</a:t>
            </a:r>
            <a:r>
              <a:rPr lang="es-MX" sz="2000" b="1" i="1" u="none" cap="none" dirty="0">
                <a:latin typeface="Courier New"/>
                <a:ea typeface="Courier New"/>
                <a:cs typeface="Courier New"/>
              </a:rPr>
              <a:t>promesa ejecutada </a:t>
            </a:r>
            <a:r>
              <a:rPr sz="1875" b="0" i="1" u="none" cap="none" dirty="0">
                <a:latin typeface="Arial"/>
                <a:ea typeface="Arial"/>
                <a:cs typeface="Arial"/>
              </a:rPr>
              <a:t>'</a:t>
            </a:r>
            <a:endParaRPr sz="1875" b="0" i="0" u="none" cap="none" dirty="0">
              <a:latin typeface="Calibri"/>
              <a:ea typeface="Calibri"/>
              <a:cs typeface="Calibri"/>
            </a:endParaRPr>
          </a:p>
        </p:txBody>
      </p:sp>
      <p:sp>
        <p:nvSpPr>
          <p:cNvPr id="179" name="Google Shape;179;p11">
            <a:extLst>
              <a:ext uri="{FF2B5EF4-FFF2-40B4-BE49-F238E27FC236}">
                <a16:creationId xmlns:a16="http://schemas.microsoft.com/office/drawing/2014/main" id="{055BFAEB-0793-41C9-A189-1BB6602CD092}"/>
              </a:ext>
            </a:extLst>
          </p:cNvPr>
          <p:cNvSpPr>
            <a:spLocks noGrp="1"/>
          </p:cNvSpPr>
          <p:nvPr/>
        </p:nvSpPr>
        <p:spPr>
          <a:xfrm>
            <a:off x="990600" y="5258587"/>
            <a:ext cx="9391650" cy="1066800"/>
          </a:xfrm>
          <a:prstGeom prst="rect">
            <a:avLst/>
          </a:prstGeom>
          <a:solidFill>
            <a:srgbClr val="EFEAE4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1">
            <a:extLst>
              <a:ext uri="{FF2B5EF4-FFF2-40B4-BE49-F238E27FC236}">
                <a16:creationId xmlns:a16="http://schemas.microsoft.com/office/drawing/2014/main" id="{BF1BD37D-A200-4112-BADE-B287D3C0C3A5}"/>
              </a:ext>
            </a:extLst>
          </p:cNvPr>
          <p:cNvSpPr>
            <a:spLocks noGrp="1"/>
          </p:cNvSpPr>
          <p:nvPr/>
        </p:nvSpPr>
        <p:spPr>
          <a:xfrm>
            <a:off x="1247775" y="5458612"/>
            <a:ext cx="9143619" cy="70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06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sz="1875" b="0" i="1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C. Los dos al mismo tiempo</a:t>
            </a:r>
            <a:endParaRPr sz="187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1" name="Google Shape;181;p11">
            <a:extLst>
              <a:ext uri="{FF2B5EF4-FFF2-40B4-BE49-F238E27FC236}">
                <a16:creationId xmlns:a16="http://schemas.microsoft.com/office/drawing/2014/main" id="{1FBEB920-26C9-4A49-97C3-35D551B74F7F}"/>
              </a:ext>
            </a:extLst>
          </p:cNvPr>
          <p:cNvSpPr>
            <a:spLocks noGrp="1"/>
          </p:cNvSpPr>
          <p:nvPr/>
        </p:nvSpPr>
        <p:spPr>
          <a:xfrm>
            <a:off x="10629900" y="2715412"/>
            <a:ext cx="6667500" cy="7152488"/>
          </a:xfrm>
          <a:prstGeom prst="roundRect">
            <a:avLst>
              <a:gd name="adj" fmla="val 4234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1">
            <a:extLst>
              <a:ext uri="{FF2B5EF4-FFF2-40B4-BE49-F238E27FC236}">
                <a16:creationId xmlns:a16="http://schemas.microsoft.com/office/drawing/2014/main" id="{8445E042-173A-49BF-B9CD-EB6DC7F425A5}"/>
              </a:ext>
            </a:extLst>
          </p:cNvPr>
          <p:cNvSpPr>
            <a:spLocks noGrp="1"/>
          </p:cNvSpPr>
          <p:nvPr/>
        </p:nvSpPr>
        <p:spPr>
          <a:xfrm>
            <a:off x="10944225" y="2991637"/>
            <a:ext cx="6238875" cy="648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promesaDeComida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= new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Promise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((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resolve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reject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 =&gt; {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cocinaLista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= true;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setTimeout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(() =&gt; {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(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cocinaLista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 {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resolve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("🍝 Tu plato está listo");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}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else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{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reject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("❌ Se acabó el ingrediente");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}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}, 2000);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}); 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promesaDeComida</a:t>
            </a:r>
            <a:endParaRPr lang="es-MX" sz="1600" b="1" i="1" u="none" cap="none" dirty="0">
              <a:solidFill>
                <a:schemeClr val="bg1"/>
              </a:solidFill>
              <a:latin typeface="Courier New"/>
              <a:ea typeface="Courier New"/>
              <a:cs typeface="Courier New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.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then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((mensaje) =&gt; console.log(mensaje))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.catch((error) =&gt; console.log(error))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.</a:t>
            </a:r>
            <a:r>
              <a:rPr lang="es-MX" sz="1600" b="1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finally</a:t>
            </a: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(() =&gt; console.log("Mesa liberada"));</a:t>
            </a: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endParaRPr lang="es-MX" sz="1600" b="1" i="1" u="none" cap="none" dirty="0">
              <a:solidFill>
                <a:schemeClr val="bg1"/>
              </a:solidFill>
              <a:latin typeface="Courier New"/>
              <a:ea typeface="Courier New"/>
              <a:cs typeface="Courier New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lang="es-MX" sz="1600" b="1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console.log(‘promesa ejecutada')</a:t>
            </a:r>
            <a:endParaRPr sz="1600" b="1" i="0" u="none" cap="none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3" name="Google Shape;183;p11">
            <a:extLst>
              <a:ext uri="{FF2B5EF4-FFF2-40B4-BE49-F238E27FC236}">
                <a16:creationId xmlns:a16="http://schemas.microsoft.com/office/drawing/2014/main" id="{63A77C70-D2BD-4CA5-B04B-39D427A145DD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1">
            <a:extLst>
              <a:ext uri="{FF2B5EF4-FFF2-40B4-BE49-F238E27FC236}">
                <a16:creationId xmlns:a16="http://schemas.microsoft.com/office/drawing/2014/main" id="{A21020C2-6C43-49B6-8738-8ABF751CE4E6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5" name="Google Shape;185;p11">
            <a:extLst>
              <a:ext uri="{FF2B5EF4-FFF2-40B4-BE49-F238E27FC236}">
                <a16:creationId xmlns:a16="http://schemas.microsoft.com/office/drawing/2014/main" id="{453FFF9F-ED4F-4525-A3D3-E80845A8F75C}"/>
              </a:ext>
            </a:extLst>
          </p:cNvPr>
          <p:cNvSpPr>
            <a:spLocks noGrp="1"/>
          </p:cNvSpPr>
          <p:nvPr/>
        </p:nvSpPr>
        <p:spPr>
          <a:xfrm>
            <a:off x="17060019" y="9475589"/>
            <a:ext cx="313581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06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9610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4">
            <a:extLst>
              <a:ext uri="{FF2B5EF4-FFF2-40B4-BE49-F238E27FC236}">
                <a16:creationId xmlns:a16="http://schemas.microsoft.com/office/drawing/2014/main" id="{C7116787-28EB-4FF7-8361-4E529618A447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4">
            <a:extLst>
              <a:ext uri="{FF2B5EF4-FFF2-40B4-BE49-F238E27FC236}">
                <a16:creationId xmlns:a16="http://schemas.microsoft.com/office/drawing/2014/main" id="{6B30DD44-2C14-48D4-990A-7137F378AA08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844666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BLOQUE 2 · PROMESAS · THEN, CATCH Y FINALLY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4" name="Google Shape;244;p14">
            <a:extLst>
              <a:ext uri="{FF2B5EF4-FFF2-40B4-BE49-F238E27FC236}">
                <a16:creationId xmlns:a16="http://schemas.microsoft.com/office/drawing/2014/main" id="{B38AA485-A17E-40BE-9A2A-1C3C923AD785}"/>
              </a:ext>
            </a:extLst>
          </p:cNvPr>
          <p:cNvSpPr>
            <a:spLocks noGrp="1"/>
          </p:cNvSpPr>
          <p:nvPr/>
        </p:nvSpPr>
        <p:spPr>
          <a:xfrm>
            <a:off x="990600" y="144006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Una promesa representa un resultado futuro_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5" name="Google Shape;245;p14">
            <a:extLst>
              <a:ext uri="{FF2B5EF4-FFF2-40B4-BE49-F238E27FC236}">
                <a16:creationId xmlns:a16="http://schemas.microsoft.com/office/drawing/2014/main" id="{CCC08079-17AF-4929-8388-F42479AEEF52}"/>
              </a:ext>
            </a:extLst>
          </p:cNvPr>
          <p:cNvSpPr>
            <a:spLocks noGrp="1"/>
          </p:cNvSpPr>
          <p:nvPr/>
        </p:nvSpPr>
        <p:spPr>
          <a:xfrm>
            <a:off x="990600" y="2212699"/>
            <a:ext cx="9391650" cy="2589312"/>
          </a:xfrm>
          <a:prstGeom prst="roundRect">
            <a:avLst>
              <a:gd name="adj" fmla="val 3679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4">
            <a:extLst>
              <a:ext uri="{FF2B5EF4-FFF2-40B4-BE49-F238E27FC236}">
                <a16:creationId xmlns:a16="http://schemas.microsoft.com/office/drawing/2014/main" id="{ACFC6EE0-4E92-47C8-8C77-E8C0B9F3223C}"/>
              </a:ext>
            </a:extLst>
          </p:cNvPr>
          <p:cNvSpPr>
            <a:spLocks noGrp="1"/>
          </p:cNvSpPr>
          <p:nvPr/>
        </p:nvSpPr>
        <p:spPr>
          <a:xfrm>
            <a:off x="1304925" y="2488924"/>
            <a:ext cx="9044750" cy="2074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const </a:t>
            </a:r>
            <a:r>
              <a:rPr sz="1725" b="0" i="1" u="none" cap="none" dirty="0" err="1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correo</a:t>
            </a: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 = new Promise((resolve, reject) =&gt; {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725"/>
              <a:buFont typeface="Courier New"/>
              <a:buNone/>
            </a:pP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  </a:t>
            </a:r>
            <a:r>
              <a:rPr sz="1725" b="0" i="0" u="none" cap="none" dirty="0" err="1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setTimeout</a:t>
            </a: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(() =&gt; resolve('</a:t>
            </a:r>
            <a:r>
              <a:rPr sz="1725" b="0" i="0" u="none" cap="none" dirty="0" err="1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Enviado</a:t>
            </a: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'), 2000);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725"/>
              <a:buFont typeface="Courier New"/>
              <a:buNone/>
            </a:pPr>
            <a:r>
              <a:rPr sz="1725" b="0" i="0" u="none" cap="none" dirty="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});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7" name="Google Shape;247;p14">
            <a:extLst>
              <a:ext uri="{FF2B5EF4-FFF2-40B4-BE49-F238E27FC236}">
                <a16:creationId xmlns:a16="http://schemas.microsoft.com/office/drawing/2014/main" id="{0AAC7021-4B40-4A63-B764-378E8618292F}"/>
              </a:ext>
            </a:extLst>
          </p:cNvPr>
          <p:cNvSpPr>
            <a:spLocks noGrp="1"/>
          </p:cNvSpPr>
          <p:nvPr/>
        </p:nvSpPr>
        <p:spPr>
          <a:xfrm>
            <a:off x="990600" y="4935361"/>
            <a:ext cx="9391650" cy="2249835"/>
          </a:xfrm>
          <a:prstGeom prst="roundRect">
            <a:avLst>
              <a:gd name="adj" fmla="val 4234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4">
            <a:extLst>
              <a:ext uri="{FF2B5EF4-FFF2-40B4-BE49-F238E27FC236}">
                <a16:creationId xmlns:a16="http://schemas.microsoft.com/office/drawing/2014/main" id="{87F81AF7-D6C7-4E6D-878E-70BCFEAF5093}"/>
              </a:ext>
            </a:extLst>
          </p:cNvPr>
          <p:cNvSpPr>
            <a:spLocks noGrp="1"/>
          </p:cNvSpPr>
          <p:nvPr/>
        </p:nvSpPr>
        <p:spPr>
          <a:xfrm>
            <a:off x="1304925" y="5211586"/>
            <a:ext cx="9044750" cy="1735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725"/>
              <a:buFont typeface="Courier New"/>
              <a:buNone/>
            </a:pPr>
            <a:r>
              <a:rPr sz="1725" b="0" i="1" u="none" cap="none" dirty="0" err="1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correo.then</a:t>
            </a: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725" b="0" i="1" u="none" cap="none" dirty="0" err="1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resultado</a:t>
            </a: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 =&gt; </a:t>
            </a:r>
            <a:r>
              <a:rPr sz="1725" b="0" i="1" u="none" cap="none" dirty="0" err="1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mostrar</a:t>
            </a: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725" b="0" i="1" u="none" cap="none" dirty="0" err="1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resultado</a:t>
            </a:r>
            <a:r>
              <a:rPr sz="1725" b="0" i="1" u="none" cap="none" dirty="0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))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725"/>
              <a:buFont typeface="Courier New"/>
              <a:buNone/>
            </a:pP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  .catch(error =&gt; </a:t>
            </a:r>
            <a:r>
              <a:rPr sz="1725" b="0" i="0" u="none" cap="none" dirty="0" err="1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mostrar</a:t>
            </a: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(</a:t>
            </a:r>
            <a:r>
              <a:rPr sz="1725" b="0" i="0" u="none" cap="none" dirty="0" err="1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error.message</a:t>
            </a:r>
            <a:r>
              <a:rPr sz="1725" b="0" i="0" u="none" cap="none" dirty="0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))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7115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725"/>
              <a:buFont typeface="Courier New"/>
              <a:buNone/>
            </a:pPr>
            <a:r>
              <a:rPr sz="1725" b="0" i="0" u="none" cap="none" dirty="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  .finally(() =&gt; </a:t>
            </a:r>
            <a:r>
              <a:rPr sz="1725" b="0" i="0" u="none" cap="none" dirty="0" err="1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ocultarCarga</a:t>
            </a:r>
            <a:r>
              <a:rPr sz="1725" b="0" i="0" u="none" cap="none" dirty="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());</a:t>
            </a:r>
            <a:endParaRPr sz="17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9" name="Google Shape;249;p14">
            <a:extLst>
              <a:ext uri="{FF2B5EF4-FFF2-40B4-BE49-F238E27FC236}">
                <a16:creationId xmlns:a16="http://schemas.microsoft.com/office/drawing/2014/main" id="{0C36C7E7-2829-44CF-865D-802162106E12}"/>
              </a:ext>
            </a:extLst>
          </p:cNvPr>
          <p:cNvSpPr>
            <a:spLocks noGrp="1"/>
          </p:cNvSpPr>
          <p:nvPr/>
        </p:nvSpPr>
        <p:spPr>
          <a:xfrm>
            <a:off x="10629900" y="2212699"/>
            <a:ext cx="6667500" cy="3996333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4">
            <a:extLst>
              <a:ext uri="{FF2B5EF4-FFF2-40B4-BE49-F238E27FC236}">
                <a16:creationId xmlns:a16="http://schemas.microsoft.com/office/drawing/2014/main" id="{CAE96AC6-10CC-4657-8273-5D3DE6072C26}"/>
              </a:ext>
            </a:extLst>
          </p:cNvPr>
          <p:cNvSpPr>
            <a:spLocks noGrp="1"/>
          </p:cNvSpPr>
          <p:nvPr/>
        </p:nvSpPr>
        <p:spPr>
          <a:xfrm>
            <a:off x="11001375" y="2565124"/>
            <a:ext cx="651700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LOS TRES ESTADOS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1" name="Google Shape;251;p14">
            <a:extLst>
              <a:ext uri="{FF2B5EF4-FFF2-40B4-BE49-F238E27FC236}">
                <a16:creationId xmlns:a16="http://schemas.microsoft.com/office/drawing/2014/main" id="{753A59A6-22F6-43C3-AF10-B4AB8652590F}"/>
              </a:ext>
            </a:extLst>
          </p:cNvPr>
          <p:cNvSpPr>
            <a:spLocks noGrp="1"/>
          </p:cNvSpPr>
          <p:nvPr/>
        </p:nvSpPr>
        <p:spPr>
          <a:xfrm>
            <a:off x="11001375" y="3033635"/>
            <a:ext cx="136207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0358"/>
          </a:bodyPr>
          <a:lstStyle/>
          <a:p>
            <a:pPr marL="0" marR="0" lvl="0" indent="0" algn="l">
              <a:lnSpc>
                <a:spcPct val="137778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FF7E08"/>
                </a:solidFill>
                <a:latin typeface="Courier New"/>
                <a:ea typeface="Courier New"/>
                <a:cs typeface="Courier New"/>
              </a:rPr>
              <a:t>pending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2" name="Google Shape;252;p14">
            <a:extLst>
              <a:ext uri="{FF2B5EF4-FFF2-40B4-BE49-F238E27FC236}">
                <a16:creationId xmlns:a16="http://schemas.microsoft.com/office/drawing/2014/main" id="{EE7510B9-5F66-4295-BAA5-D37B1E2B3A76}"/>
              </a:ext>
            </a:extLst>
          </p:cNvPr>
          <p:cNvSpPr>
            <a:spLocks noGrp="1"/>
          </p:cNvSpPr>
          <p:nvPr/>
        </p:nvSpPr>
        <p:spPr>
          <a:xfrm>
            <a:off x="12392025" y="3062210"/>
            <a:ext cx="4669917" cy="629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operación sigue esperando.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3" name="Google Shape;253;p14">
            <a:extLst>
              <a:ext uri="{FF2B5EF4-FFF2-40B4-BE49-F238E27FC236}">
                <a16:creationId xmlns:a16="http://schemas.microsoft.com/office/drawing/2014/main" id="{18A71DE6-04E2-4464-A1FB-32CF0D6AD767}"/>
              </a:ext>
            </a:extLst>
          </p:cNvPr>
          <p:cNvSpPr>
            <a:spLocks noGrp="1"/>
          </p:cNvSpPr>
          <p:nvPr/>
        </p:nvSpPr>
        <p:spPr>
          <a:xfrm>
            <a:off x="11001375" y="3767953"/>
            <a:ext cx="136207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0358"/>
          </a:bodyPr>
          <a:lstStyle/>
          <a:p>
            <a:pPr marL="0" marR="0" lvl="0" indent="0" algn="l">
              <a:lnSpc>
                <a:spcPct val="137778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FF7E08"/>
                </a:solidFill>
                <a:latin typeface="Courier New"/>
                <a:ea typeface="Courier New"/>
                <a:cs typeface="Courier New"/>
              </a:rPr>
              <a:t>fulfilled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4" name="Google Shape;254;p14">
            <a:extLst>
              <a:ext uri="{FF2B5EF4-FFF2-40B4-BE49-F238E27FC236}">
                <a16:creationId xmlns:a16="http://schemas.microsoft.com/office/drawing/2014/main" id="{F370CB2B-F74D-4988-A3B4-DFC5EE3036CA}"/>
              </a:ext>
            </a:extLst>
          </p:cNvPr>
          <p:cNvSpPr>
            <a:spLocks noGrp="1"/>
          </p:cNvSpPr>
          <p:nvPr/>
        </p:nvSpPr>
        <p:spPr>
          <a:xfrm>
            <a:off x="12392025" y="3796528"/>
            <a:ext cx="4669917" cy="629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 entregó el resultado.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5" name="Google Shape;255;p14">
            <a:extLst>
              <a:ext uri="{FF2B5EF4-FFF2-40B4-BE49-F238E27FC236}">
                <a16:creationId xmlns:a16="http://schemas.microsoft.com/office/drawing/2014/main" id="{24781CCF-E6FC-4A72-A36C-E9FD08735D9F}"/>
              </a:ext>
            </a:extLst>
          </p:cNvPr>
          <p:cNvSpPr>
            <a:spLocks noGrp="1"/>
          </p:cNvSpPr>
          <p:nvPr/>
        </p:nvSpPr>
        <p:spPr>
          <a:xfrm>
            <a:off x="11001375" y="4502271"/>
            <a:ext cx="136207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0358"/>
          </a:bodyPr>
          <a:lstStyle/>
          <a:p>
            <a:pPr marL="0" marR="0" lvl="0" indent="0" algn="l">
              <a:lnSpc>
                <a:spcPct val="137778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FF7E08"/>
                </a:solidFill>
                <a:latin typeface="Courier New"/>
                <a:ea typeface="Courier New"/>
                <a:cs typeface="Courier New"/>
              </a:rPr>
              <a:t>rejected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6" name="Google Shape;256;p14">
            <a:extLst>
              <a:ext uri="{FF2B5EF4-FFF2-40B4-BE49-F238E27FC236}">
                <a16:creationId xmlns:a16="http://schemas.microsoft.com/office/drawing/2014/main" id="{44266B0B-548B-4BB7-9CB8-11276B535CCA}"/>
              </a:ext>
            </a:extLst>
          </p:cNvPr>
          <p:cNvSpPr>
            <a:spLocks noGrp="1"/>
          </p:cNvSpPr>
          <p:nvPr/>
        </p:nvSpPr>
        <p:spPr>
          <a:xfrm>
            <a:off x="12392025" y="4530846"/>
            <a:ext cx="4669917" cy="629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reject entregó un error.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1C241D58-ED5B-4605-B58C-2331F4A247E4}"/>
              </a:ext>
            </a:extLst>
          </p:cNvPr>
          <p:cNvSpPr>
            <a:spLocks noGrp="1"/>
          </p:cNvSpPr>
          <p:nvPr/>
        </p:nvSpPr>
        <p:spPr>
          <a:xfrm>
            <a:off x="11001375" y="5236589"/>
            <a:ext cx="136207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0358"/>
          </a:bodyPr>
          <a:lstStyle/>
          <a:p>
            <a:pPr marL="0" marR="0" lvl="0" indent="0" algn="l">
              <a:lnSpc>
                <a:spcPct val="137778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Courier New"/>
              <a:buNone/>
            </a:pPr>
            <a:r>
              <a:rPr sz="1800" b="0" i="0" u="none" cap="none">
                <a:solidFill>
                  <a:srgbClr val="FF7E08"/>
                </a:solidFill>
                <a:latin typeface="Courier New"/>
                <a:ea typeface="Courier New"/>
                <a:cs typeface="Courier New"/>
              </a:rPr>
              <a:t>finally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8" name="Google Shape;258;p14">
            <a:extLst>
              <a:ext uri="{FF2B5EF4-FFF2-40B4-BE49-F238E27FC236}">
                <a16:creationId xmlns:a16="http://schemas.microsoft.com/office/drawing/2014/main" id="{B256B3C5-3AB9-4F3B-BA98-B448920A88FF}"/>
              </a:ext>
            </a:extLst>
          </p:cNvPr>
          <p:cNvSpPr>
            <a:spLocks noGrp="1"/>
          </p:cNvSpPr>
          <p:nvPr/>
        </p:nvSpPr>
        <p:spPr>
          <a:xfrm>
            <a:off x="12392025" y="5265164"/>
            <a:ext cx="4669917" cy="629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 ejecuta en éxito o error.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9" name="Google Shape;259;p14">
            <a:extLst>
              <a:ext uri="{FF2B5EF4-FFF2-40B4-BE49-F238E27FC236}">
                <a16:creationId xmlns:a16="http://schemas.microsoft.com/office/drawing/2014/main" id="{A1A56AE9-F310-457F-986F-73BBF41D3B8F}"/>
              </a:ext>
            </a:extLst>
          </p:cNvPr>
          <p:cNvSpPr>
            <a:spLocks noGrp="1"/>
          </p:cNvSpPr>
          <p:nvPr/>
        </p:nvSpPr>
        <p:spPr>
          <a:xfrm>
            <a:off x="10629900" y="6342382"/>
            <a:ext cx="6667500" cy="2138660"/>
          </a:xfrm>
          <a:prstGeom prst="rect">
            <a:avLst/>
          </a:prstGeom>
          <a:solidFill>
            <a:srgbClr val="000000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4">
            <a:extLst>
              <a:ext uri="{FF2B5EF4-FFF2-40B4-BE49-F238E27FC236}">
                <a16:creationId xmlns:a16="http://schemas.microsoft.com/office/drawing/2014/main" id="{724F9730-A023-4528-94EC-CB84446DE6BD}"/>
              </a:ext>
            </a:extLst>
          </p:cNvPr>
          <p:cNvSpPr>
            <a:spLocks noGrp="1"/>
          </p:cNvSpPr>
          <p:nvPr/>
        </p:nvSpPr>
        <p:spPr>
          <a:xfrm>
            <a:off x="11001375" y="6694807"/>
            <a:ext cx="6517005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64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🚨 Error común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1" name="Google Shape;261;p14">
            <a:extLst>
              <a:ext uri="{FF2B5EF4-FFF2-40B4-BE49-F238E27FC236}">
                <a16:creationId xmlns:a16="http://schemas.microsoft.com/office/drawing/2014/main" id="{6FEADE01-8388-4507-BBFC-BF5DEE83CD35}"/>
              </a:ext>
            </a:extLst>
          </p:cNvPr>
          <p:cNvSpPr>
            <a:spLocks noGrp="1"/>
          </p:cNvSpPr>
          <p:nvPr/>
        </p:nvSpPr>
        <p:spPr>
          <a:xfrm>
            <a:off x="11001375" y="7154835"/>
            <a:ext cx="6102287" cy="1011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1714"/>
              </a:lnSpc>
              <a:spcBef>
                <a:spcPts val="0"/>
              </a:spcBef>
              <a:spcAft>
                <a:spcPts val="0"/>
              </a:spcAft>
              <a:buClr>
                <a:srgbClr val="E2DCD3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E2DCD3"/>
                </a:solidFill>
                <a:latin typeface="Arial"/>
                <a:ea typeface="Arial"/>
                <a:cs typeface="Arial"/>
              </a:rPr>
              <a:t>Pedir el dato y usarlo como si ya estuviera disponible. El resultado llega después.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2" name="Google Shape;262;p14">
            <a:extLst>
              <a:ext uri="{FF2B5EF4-FFF2-40B4-BE49-F238E27FC236}">
                <a16:creationId xmlns:a16="http://schemas.microsoft.com/office/drawing/2014/main" id="{E3F4CE33-D1B8-4ED8-9014-CD6931A97CF1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4">
            <a:extLst>
              <a:ext uri="{FF2B5EF4-FFF2-40B4-BE49-F238E27FC236}">
                <a16:creationId xmlns:a16="http://schemas.microsoft.com/office/drawing/2014/main" id="{95B31BEB-DF07-4B2F-AE46-E7CBBB3D73BD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4" name="Google Shape;264;p14">
            <a:extLst>
              <a:ext uri="{FF2B5EF4-FFF2-40B4-BE49-F238E27FC236}">
                <a16:creationId xmlns:a16="http://schemas.microsoft.com/office/drawing/2014/main" id="{ABEF99A2-142E-466E-B095-FBFA9C2991DE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07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726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6">
            <a:extLst>
              <a:ext uri="{FF2B5EF4-FFF2-40B4-BE49-F238E27FC236}">
                <a16:creationId xmlns:a16="http://schemas.microsoft.com/office/drawing/2014/main" id="{86662324-A1DC-41E7-AF4C-36BBD471A5F7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6">
            <a:extLst>
              <a:ext uri="{FF2B5EF4-FFF2-40B4-BE49-F238E27FC236}">
                <a16:creationId xmlns:a16="http://schemas.microsoft.com/office/drawing/2014/main" id="{B4A67701-D81D-46A2-A8E8-7D7C905D2A4F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929010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BLOQUE 3 · ASYNC/AWAIT Y TRY/CATCH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7" name="Google Shape;287;p16">
            <a:extLst>
              <a:ext uri="{FF2B5EF4-FFF2-40B4-BE49-F238E27FC236}">
                <a16:creationId xmlns:a16="http://schemas.microsoft.com/office/drawing/2014/main" id="{EA32759D-7429-43E1-8257-9A18C59D57B5}"/>
              </a:ext>
            </a:extLst>
          </p:cNvPr>
          <p:cNvSpPr>
            <a:spLocks noGrp="1"/>
          </p:cNvSpPr>
          <p:nvPr/>
        </p:nvSpPr>
        <p:spPr>
          <a:xfrm>
            <a:off x="990600" y="142101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misma promesa, con lectura secuencial_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8" name="Google Shape;288;p16">
            <a:extLst>
              <a:ext uri="{FF2B5EF4-FFF2-40B4-BE49-F238E27FC236}">
                <a16:creationId xmlns:a16="http://schemas.microsoft.com/office/drawing/2014/main" id="{B6C7BFCB-38FE-442C-8A87-25562A029FEF}"/>
              </a:ext>
            </a:extLst>
          </p:cNvPr>
          <p:cNvSpPr>
            <a:spLocks noGrp="1"/>
          </p:cNvSpPr>
          <p:nvPr/>
        </p:nvSpPr>
        <p:spPr>
          <a:xfrm>
            <a:off x="990600" y="2174558"/>
            <a:ext cx="10534650" cy="2124075"/>
          </a:xfrm>
          <a:prstGeom prst="roundRect">
            <a:avLst>
              <a:gd name="adj" fmla="val 4484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6">
            <a:extLst>
              <a:ext uri="{FF2B5EF4-FFF2-40B4-BE49-F238E27FC236}">
                <a16:creationId xmlns:a16="http://schemas.microsoft.com/office/drawing/2014/main" id="{FC949F2C-9C78-4C5D-BD3E-6FC6221BEFE0}"/>
              </a:ext>
            </a:extLst>
          </p:cNvPr>
          <p:cNvSpPr>
            <a:spLocks noGrp="1"/>
          </p:cNvSpPr>
          <p:nvPr/>
        </p:nvSpPr>
        <p:spPr>
          <a:xfrm>
            <a:off x="1304925" y="2450783"/>
            <a:ext cx="10222040" cy="160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async function </a:t>
            </a:r>
            <a:r>
              <a:rPr sz="1650" b="0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confirmarCompra</a:t>
            </a: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() {</a:t>
            </a:r>
            <a:endParaRPr sz="1650" b="0" i="0" u="none" cap="none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const </a:t>
            </a:r>
            <a:r>
              <a:rPr sz="1650" b="0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resultado</a:t>
            </a: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= await </a:t>
            </a:r>
            <a:r>
              <a:rPr sz="1650" b="0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enviarCorreo</a:t>
            </a: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();</a:t>
            </a:r>
            <a:endParaRPr sz="1650" b="0" i="0" u="none" cap="none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console.log(</a:t>
            </a:r>
            <a:r>
              <a:rPr sz="1650" b="0" i="1" u="none" cap="none" dirty="0" err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resultado</a:t>
            </a: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50" b="0" i="0" u="none" cap="none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 dirty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50" b="0" i="0" u="none" cap="none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0" name="Google Shape;290;p16">
            <a:extLst>
              <a:ext uri="{FF2B5EF4-FFF2-40B4-BE49-F238E27FC236}">
                <a16:creationId xmlns:a16="http://schemas.microsoft.com/office/drawing/2014/main" id="{56DB1577-E25F-4EFA-844B-FE712CB9424E}"/>
              </a:ext>
            </a:extLst>
          </p:cNvPr>
          <p:cNvSpPr>
            <a:spLocks noGrp="1"/>
          </p:cNvSpPr>
          <p:nvPr/>
        </p:nvSpPr>
        <p:spPr>
          <a:xfrm>
            <a:off x="990600" y="4412934"/>
            <a:ext cx="10534650" cy="4324350"/>
          </a:xfrm>
          <a:prstGeom prst="roundRect">
            <a:avLst>
              <a:gd name="adj" fmla="val 2203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6">
            <a:extLst>
              <a:ext uri="{FF2B5EF4-FFF2-40B4-BE49-F238E27FC236}">
                <a16:creationId xmlns:a16="http://schemas.microsoft.com/office/drawing/2014/main" id="{4DFD0DD8-F65D-4297-85FD-ADC5CB11857E}"/>
              </a:ext>
            </a:extLst>
          </p:cNvPr>
          <p:cNvSpPr>
            <a:spLocks noGrp="1"/>
          </p:cNvSpPr>
          <p:nvPr/>
        </p:nvSpPr>
        <p:spPr>
          <a:xfrm>
            <a:off x="1304925" y="4689159"/>
            <a:ext cx="1022204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lnSpcReduction="10000"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async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function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pedirComida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() {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try {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mensaje =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await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promesaDeComida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  console.log(mensaje);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} catch (error) {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  console.log(error);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} </a:t>
            </a: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finally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{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  console.log("Mesa liberada");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}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lang="es-MX"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pedirComida</a:t>
            </a:r>
            <a:r>
              <a:rPr lang="es-MX"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();</a:t>
            </a:r>
            <a:endParaRPr sz="16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2" name="Google Shape;292;p16">
            <a:extLst>
              <a:ext uri="{FF2B5EF4-FFF2-40B4-BE49-F238E27FC236}">
                <a16:creationId xmlns:a16="http://schemas.microsoft.com/office/drawing/2014/main" id="{8897E786-FD6A-4AA6-93D3-3D9BF430E417}"/>
              </a:ext>
            </a:extLst>
          </p:cNvPr>
          <p:cNvSpPr>
            <a:spLocks noGrp="1"/>
          </p:cNvSpPr>
          <p:nvPr/>
        </p:nvSpPr>
        <p:spPr>
          <a:xfrm>
            <a:off x="11772900" y="2174558"/>
            <a:ext cx="5524500" cy="324609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6">
            <a:extLst>
              <a:ext uri="{FF2B5EF4-FFF2-40B4-BE49-F238E27FC236}">
                <a16:creationId xmlns:a16="http://schemas.microsoft.com/office/drawing/2014/main" id="{8F9CA4CE-552A-457D-AFAA-B4326F5D0C6E}"/>
              </a:ext>
            </a:extLst>
          </p:cNvPr>
          <p:cNvSpPr>
            <a:spLocks noGrp="1"/>
          </p:cNvSpPr>
          <p:nvPr/>
        </p:nvSpPr>
        <p:spPr>
          <a:xfrm>
            <a:off x="12134850" y="2517459"/>
            <a:ext cx="5280660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64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🟠 Pregunta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4" name="Google Shape;294;p16">
            <a:extLst>
              <a:ext uri="{FF2B5EF4-FFF2-40B4-BE49-F238E27FC236}">
                <a16:creationId xmlns:a16="http://schemas.microsoft.com/office/drawing/2014/main" id="{B620A20B-421A-4B11-AC72-CCD049BD2D24}"/>
              </a:ext>
            </a:extLst>
          </p:cNvPr>
          <p:cNvSpPr>
            <a:spLocks noGrp="1"/>
          </p:cNvSpPr>
          <p:nvPr/>
        </p:nvSpPr>
        <p:spPr>
          <a:xfrm>
            <a:off x="12134850" y="2996536"/>
            <a:ext cx="4944618" cy="2119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sz="187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¿await vuelve síncrono todo JavaScript? No: pausa esta función async, no la interfaz completa.</a:t>
            </a:r>
            <a:endParaRPr sz="187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5" name="Google Shape;295;p16">
            <a:extLst>
              <a:ext uri="{FF2B5EF4-FFF2-40B4-BE49-F238E27FC236}">
                <a16:creationId xmlns:a16="http://schemas.microsoft.com/office/drawing/2014/main" id="{48A97535-16E5-4792-BB9A-8F0DAD769A15}"/>
              </a:ext>
            </a:extLst>
          </p:cNvPr>
          <p:cNvSpPr>
            <a:spLocks noGrp="1"/>
          </p:cNvSpPr>
          <p:nvPr/>
        </p:nvSpPr>
        <p:spPr>
          <a:xfrm>
            <a:off x="11772900" y="5573049"/>
            <a:ext cx="5524500" cy="1719263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6">
            <a:extLst>
              <a:ext uri="{FF2B5EF4-FFF2-40B4-BE49-F238E27FC236}">
                <a16:creationId xmlns:a16="http://schemas.microsoft.com/office/drawing/2014/main" id="{3D08D34D-11BC-4931-97CF-B007377617D0}"/>
              </a:ext>
            </a:extLst>
          </p:cNvPr>
          <p:cNvSpPr>
            <a:spLocks noGrp="1"/>
          </p:cNvSpPr>
          <p:nvPr/>
        </p:nvSpPr>
        <p:spPr>
          <a:xfrm>
            <a:off x="12144375" y="5925474"/>
            <a:ext cx="4924997" cy="1052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5456"/>
          </a:bodyPr>
          <a:lstStyle/>
          <a:p>
            <a:pPr marL="0" marR="0" lvl="0" indent="0" algn="l">
              <a:lnSpc>
                <a:spcPct val="1224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Courier New"/>
              <a:buNone/>
            </a:pPr>
            <a:r>
              <a:rPr sz="1875" b="0" i="0" u="none" cap="none">
                <a:solidFill>
                  <a:srgbClr val="000000"/>
                </a:solidFill>
                <a:latin typeface="Courier New"/>
                <a:ea typeface="Courier New"/>
                <a:cs typeface="Courier New"/>
              </a:rPr>
              <a:t>await trabaja con promesas. En un script tradicional se utiliza dentro de una función async.</a:t>
            </a:r>
            <a:endParaRPr sz="187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7" name="Google Shape;297;p16">
            <a:extLst>
              <a:ext uri="{FF2B5EF4-FFF2-40B4-BE49-F238E27FC236}">
                <a16:creationId xmlns:a16="http://schemas.microsoft.com/office/drawing/2014/main" id="{44F7627D-4DE1-4D55-91CB-AA44387F90E9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6">
            <a:extLst>
              <a:ext uri="{FF2B5EF4-FFF2-40B4-BE49-F238E27FC236}">
                <a16:creationId xmlns:a16="http://schemas.microsoft.com/office/drawing/2014/main" id="{09AEC1AB-D01B-4F18-B67D-83E3F8243157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9" name="Google Shape;299;p16">
            <a:extLst>
              <a:ext uri="{FF2B5EF4-FFF2-40B4-BE49-F238E27FC236}">
                <a16:creationId xmlns:a16="http://schemas.microsoft.com/office/drawing/2014/main" id="{9852AB81-69FB-4058-828D-ED94A09EDA12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08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5471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7">
            <a:extLst>
              <a:ext uri="{FF2B5EF4-FFF2-40B4-BE49-F238E27FC236}">
                <a16:creationId xmlns:a16="http://schemas.microsoft.com/office/drawing/2014/main" id="{489F2BF0-1CBF-4879-88B5-7CDD6071B773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7">
            <a:extLst>
              <a:ext uri="{FF2B5EF4-FFF2-40B4-BE49-F238E27FC236}">
                <a16:creationId xmlns:a16="http://schemas.microsoft.com/office/drawing/2014/main" id="{017B4915-CAD4-4F58-9F3F-0975E6146C71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9584948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BLOQUE 4 · POKÉAPI · DOS ESPERAS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7" name="Google Shape;307;p17">
            <a:extLst>
              <a:ext uri="{FF2B5EF4-FFF2-40B4-BE49-F238E27FC236}">
                <a16:creationId xmlns:a16="http://schemas.microsoft.com/office/drawing/2014/main" id="{1379A89C-FFC9-43F1-B2E9-1D530EED3EBF}"/>
              </a:ext>
            </a:extLst>
          </p:cNvPr>
          <p:cNvSpPr>
            <a:spLocks noGrp="1"/>
          </p:cNvSpPr>
          <p:nvPr/>
        </p:nvSpPr>
        <p:spPr>
          <a:xfrm>
            <a:off x="990600" y="142101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Traer el dato y convertirlo antes de pintarlo_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8" name="Google Shape;308;p17">
            <a:extLst>
              <a:ext uri="{FF2B5EF4-FFF2-40B4-BE49-F238E27FC236}">
                <a16:creationId xmlns:a16="http://schemas.microsoft.com/office/drawing/2014/main" id="{256F3FD1-1A8B-40AF-B404-F37428EE7C3E}"/>
              </a:ext>
            </a:extLst>
          </p:cNvPr>
          <p:cNvSpPr>
            <a:spLocks noGrp="1"/>
          </p:cNvSpPr>
          <p:nvPr/>
        </p:nvSpPr>
        <p:spPr>
          <a:xfrm>
            <a:off x="990600" y="2079309"/>
            <a:ext cx="14912340" cy="776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75"/>
              <a:buFont typeface="Arial"/>
              <a:buNone/>
            </a:pPr>
            <a:endParaRPr sz="187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9" name="Google Shape;309;p17">
            <a:extLst>
              <a:ext uri="{FF2B5EF4-FFF2-40B4-BE49-F238E27FC236}">
                <a16:creationId xmlns:a16="http://schemas.microsoft.com/office/drawing/2014/main" id="{25BA4A75-334B-4A29-8927-CBFA1F057515}"/>
              </a:ext>
            </a:extLst>
          </p:cNvPr>
          <p:cNvSpPr>
            <a:spLocks noGrp="1"/>
          </p:cNvSpPr>
          <p:nvPr/>
        </p:nvSpPr>
        <p:spPr>
          <a:xfrm>
            <a:off x="990600" y="3037329"/>
            <a:ext cx="400050" cy="4000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7">
            <a:extLst>
              <a:ext uri="{FF2B5EF4-FFF2-40B4-BE49-F238E27FC236}">
                <a16:creationId xmlns:a16="http://schemas.microsoft.com/office/drawing/2014/main" id="{B73963A9-AB66-4CF1-A299-530A6A1BFE2B}"/>
              </a:ext>
            </a:extLst>
          </p:cNvPr>
          <p:cNvSpPr>
            <a:spLocks noGrp="1"/>
          </p:cNvSpPr>
          <p:nvPr/>
        </p:nvSpPr>
        <p:spPr>
          <a:xfrm>
            <a:off x="952500" y="3037329"/>
            <a:ext cx="4762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115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Arial"/>
              <a:buNone/>
            </a:pPr>
            <a:r>
              <a:rPr sz="165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1" name="Google Shape;311;p17">
            <a:extLst>
              <a:ext uri="{FF2B5EF4-FFF2-40B4-BE49-F238E27FC236}">
                <a16:creationId xmlns:a16="http://schemas.microsoft.com/office/drawing/2014/main" id="{0EA4E4CC-BDEB-48FB-8E58-429C3709A094}"/>
              </a:ext>
            </a:extLst>
          </p:cNvPr>
          <p:cNvSpPr>
            <a:spLocks noGrp="1"/>
          </p:cNvSpPr>
          <p:nvPr/>
        </p:nvSpPr>
        <p:spPr>
          <a:xfrm>
            <a:off x="1543050" y="3027358"/>
            <a:ext cx="2714982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84663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Esperar la respuesta HTTP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2" name="Google Shape;312;p17">
            <a:extLst>
              <a:ext uri="{FF2B5EF4-FFF2-40B4-BE49-F238E27FC236}">
                <a16:creationId xmlns:a16="http://schemas.microsoft.com/office/drawing/2014/main" id="{DE2B7E76-34D8-4B09-8742-0E798B92A729}"/>
              </a:ext>
            </a:extLst>
          </p:cNvPr>
          <p:cNvSpPr>
            <a:spLocks noGrp="1"/>
          </p:cNvSpPr>
          <p:nvPr/>
        </p:nvSpPr>
        <p:spPr>
          <a:xfrm>
            <a:off x="990575" y="3889847"/>
            <a:ext cx="8029575" cy="2124075"/>
          </a:xfrm>
          <a:prstGeom prst="roundRect">
            <a:avLst>
              <a:gd name="adj" fmla="val 4484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7">
            <a:extLst>
              <a:ext uri="{FF2B5EF4-FFF2-40B4-BE49-F238E27FC236}">
                <a16:creationId xmlns:a16="http://schemas.microsoft.com/office/drawing/2014/main" id="{CC78E11F-39C1-4F60-BDEE-A0680F74B6A5}"/>
              </a:ext>
            </a:extLst>
          </p:cNvPr>
          <p:cNvSpPr>
            <a:spLocks noGrp="1"/>
          </p:cNvSpPr>
          <p:nvPr/>
        </p:nvSpPr>
        <p:spPr>
          <a:xfrm>
            <a:off x="1304925" y="3827904"/>
            <a:ext cx="7641812" cy="160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5343"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const 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respuesta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= await fetch(</a:t>
            </a:r>
            <a:endParaRPr sz="16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  `https://pokeapi.co/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api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/v2/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pokemon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/${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nombre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}`</a:t>
            </a:r>
            <a:endParaRPr sz="16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if (!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respuesta.ok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) throw new Error(`HTTP ${</a:t>
            </a:r>
            <a:r>
              <a:rPr sz="1650" b="0" i="0" u="none" cap="none" dirty="0" err="1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respuesta.status</a:t>
            </a:r>
            <a:r>
              <a:rPr sz="1650" b="0" i="0" u="none" cap="none" dirty="0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}`);</a:t>
            </a:r>
            <a:endParaRPr sz="16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4" name="Google Shape;314;p17">
            <a:extLst>
              <a:ext uri="{FF2B5EF4-FFF2-40B4-BE49-F238E27FC236}">
                <a16:creationId xmlns:a16="http://schemas.microsoft.com/office/drawing/2014/main" id="{4A2E763E-CBDF-4095-9376-D8577D258985}"/>
              </a:ext>
            </a:extLst>
          </p:cNvPr>
          <p:cNvSpPr>
            <a:spLocks noGrp="1"/>
          </p:cNvSpPr>
          <p:nvPr/>
        </p:nvSpPr>
        <p:spPr>
          <a:xfrm>
            <a:off x="9287056" y="2532180"/>
            <a:ext cx="400200" cy="400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7">
            <a:extLst>
              <a:ext uri="{FF2B5EF4-FFF2-40B4-BE49-F238E27FC236}">
                <a16:creationId xmlns:a16="http://schemas.microsoft.com/office/drawing/2014/main" id="{9A594A21-0919-4225-8594-3BF1E06D9389}"/>
              </a:ext>
            </a:extLst>
          </p:cNvPr>
          <p:cNvSpPr>
            <a:spLocks noGrp="1"/>
          </p:cNvSpPr>
          <p:nvPr/>
        </p:nvSpPr>
        <p:spPr>
          <a:xfrm>
            <a:off x="9229725" y="2558304"/>
            <a:ext cx="4764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115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Arial"/>
              <a:buNone/>
            </a:pPr>
            <a:r>
              <a:rPr sz="165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6" name="Google Shape;316;p17">
            <a:extLst>
              <a:ext uri="{FF2B5EF4-FFF2-40B4-BE49-F238E27FC236}">
                <a16:creationId xmlns:a16="http://schemas.microsoft.com/office/drawing/2014/main" id="{1648AC23-BA0C-46B4-89F0-4751DDA59FF7}"/>
              </a:ext>
            </a:extLst>
          </p:cNvPr>
          <p:cNvSpPr>
            <a:spLocks noGrp="1"/>
          </p:cNvSpPr>
          <p:nvPr/>
        </p:nvSpPr>
        <p:spPr>
          <a:xfrm>
            <a:off x="9877750" y="2566421"/>
            <a:ext cx="3271200" cy="4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31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Esperar y usar el JSON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7" name="Google Shape;317;p17">
            <a:extLst>
              <a:ext uri="{FF2B5EF4-FFF2-40B4-BE49-F238E27FC236}">
                <a16:creationId xmlns:a16="http://schemas.microsoft.com/office/drawing/2014/main" id="{4079EFBE-D3D4-4C8A-8750-FF7CF6B26261}"/>
              </a:ext>
            </a:extLst>
          </p:cNvPr>
          <p:cNvSpPr>
            <a:spLocks noGrp="1"/>
          </p:cNvSpPr>
          <p:nvPr/>
        </p:nvSpPr>
        <p:spPr>
          <a:xfrm>
            <a:off x="9287050" y="3187699"/>
            <a:ext cx="8029500" cy="6882300"/>
          </a:xfrm>
          <a:prstGeom prst="roundRect">
            <a:avLst>
              <a:gd name="adj" fmla="val 1808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7">
            <a:extLst>
              <a:ext uri="{FF2B5EF4-FFF2-40B4-BE49-F238E27FC236}">
                <a16:creationId xmlns:a16="http://schemas.microsoft.com/office/drawing/2014/main" id="{80702D51-AFD1-4DA4-BB82-7E0B23EAC820}"/>
              </a:ext>
            </a:extLst>
          </p:cNvPr>
          <p:cNvSpPr>
            <a:spLocks noGrp="1"/>
          </p:cNvSpPr>
          <p:nvPr/>
        </p:nvSpPr>
        <p:spPr>
          <a:xfrm>
            <a:off x="9655525" y="3657204"/>
            <a:ext cx="7641900" cy="47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const pokemon = await respuesta.json();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nombre.textContent = pokemon.name;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imagen.src = pokemon.sprites.front_default;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9" name="Google Shape;319;p17">
            <a:extLst>
              <a:ext uri="{FF2B5EF4-FFF2-40B4-BE49-F238E27FC236}">
                <a16:creationId xmlns:a16="http://schemas.microsoft.com/office/drawing/2014/main" id="{C93D2541-E784-43B2-9907-F5F3D0D681DF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7">
            <a:extLst>
              <a:ext uri="{FF2B5EF4-FFF2-40B4-BE49-F238E27FC236}">
                <a16:creationId xmlns:a16="http://schemas.microsoft.com/office/drawing/2014/main" id="{CD5D632E-A8BF-4DF0-86D5-AE69A4CB2EA8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1" name="Google Shape;321;p17">
            <a:extLst>
              <a:ext uri="{FF2B5EF4-FFF2-40B4-BE49-F238E27FC236}">
                <a16:creationId xmlns:a16="http://schemas.microsoft.com/office/drawing/2014/main" id="{314E1535-5424-4379-82D9-116DD9BA5243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09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026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8">
            <a:extLst>
              <a:ext uri="{FF2B5EF4-FFF2-40B4-BE49-F238E27FC236}">
                <a16:creationId xmlns:a16="http://schemas.microsoft.com/office/drawing/2014/main" id="{BC9F172E-E672-4AF0-ADDE-9D96FC9FE1CA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8">
            <a:extLst>
              <a:ext uri="{FF2B5EF4-FFF2-40B4-BE49-F238E27FC236}">
                <a16:creationId xmlns:a16="http://schemas.microsoft.com/office/drawing/2014/main" id="{CAE97C99-E6AF-4471-BEB2-E9A528BBD335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3862268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59652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BLOQUE 5 · CORREO ASÍNCRONO EN EL MARKETPLACE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9" name="Google Shape;329;p18">
            <a:extLst>
              <a:ext uri="{FF2B5EF4-FFF2-40B4-BE49-F238E27FC236}">
                <a16:creationId xmlns:a16="http://schemas.microsoft.com/office/drawing/2014/main" id="{29225963-8935-424E-8BB5-3DA91B33989B}"/>
              </a:ext>
            </a:extLst>
          </p:cNvPr>
          <p:cNvSpPr>
            <a:spLocks noGrp="1"/>
          </p:cNvSpPr>
          <p:nvPr/>
        </p:nvSpPr>
        <p:spPr>
          <a:xfrm>
            <a:off x="990600" y="142101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Una promesa; dos formas de consumirla_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0" name="Google Shape;330;p18">
            <a:extLst>
              <a:ext uri="{FF2B5EF4-FFF2-40B4-BE49-F238E27FC236}">
                <a16:creationId xmlns:a16="http://schemas.microsoft.com/office/drawing/2014/main" id="{782852C1-B1F8-42E4-99E9-E5E9155FE43C}"/>
              </a:ext>
            </a:extLst>
          </p:cNvPr>
          <p:cNvSpPr>
            <a:spLocks noGrp="1"/>
          </p:cNvSpPr>
          <p:nvPr/>
        </p:nvSpPr>
        <p:spPr>
          <a:xfrm>
            <a:off x="990600" y="2184530"/>
            <a:ext cx="400050" cy="4000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8">
            <a:extLst>
              <a:ext uri="{FF2B5EF4-FFF2-40B4-BE49-F238E27FC236}">
                <a16:creationId xmlns:a16="http://schemas.microsoft.com/office/drawing/2014/main" id="{4A716B41-E13B-4482-93AE-9C180465D300}"/>
              </a:ext>
            </a:extLst>
          </p:cNvPr>
          <p:cNvSpPr>
            <a:spLocks noGrp="1"/>
          </p:cNvSpPr>
          <p:nvPr/>
        </p:nvSpPr>
        <p:spPr>
          <a:xfrm>
            <a:off x="952500" y="2184530"/>
            <a:ext cx="4762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115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Arial"/>
              <a:buNone/>
            </a:pPr>
            <a:r>
              <a:rPr sz="165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2" name="Google Shape;332;p18">
            <a:extLst>
              <a:ext uri="{FF2B5EF4-FFF2-40B4-BE49-F238E27FC236}">
                <a16:creationId xmlns:a16="http://schemas.microsoft.com/office/drawing/2014/main" id="{8FD14C7D-D8A8-42FB-A4A1-93DE141133A8}"/>
              </a:ext>
            </a:extLst>
          </p:cNvPr>
          <p:cNvSpPr>
            <a:spLocks noGrp="1"/>
          </p:cNvSpPr>
          <p:nvPr/>
        </p:nvSpPr>
        <p:spPr>
          <a:xfrm>
            <a:off x="1543050" y="2174558"/>
            <a:ext cx="5435203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64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Con .then() / .catch()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3" name="Google Shape;333;p18">
            <a:extLst>
              <a:ext uri="{FF2B5EF4-FFF2-40B4-BE49-F238E27FC236}">
                <a16:creationId xmlns:a16="http://schemas.microsoft.com/office/drawing/2014/main" id="{A78767CF-732A-4091-A9C9-AE25F2C6BA21}"/>
              </a:ext>
            </a:extLst>
          </p:cNvPr>
          <p:cNvSpPr>
            <a:spLocks noGrp="1"/>
          </p:cNvSpPr>
          <p:nvPr/>
        </p:nvSpPr>
        <p:spPr>
          <a:xfrm>
            <a:off x="990600" y="2698879"/>
            <a:ext cx="8029575" cy="1809750"/>
          </a:xfrm>
          <a:prstGeom prst="roundRect">
            <a:avLst>
              <a:gd name="adj" fmla="val 5263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8">
            <a:extLst>
              <a:ext uri="{FF2B5EF4-FFF2-40B4-BE49-F238E27FC236}">
                <a16:creationId xmlns:a16="http://schemas.microsoft.com/office/drawing/2014/main" id="{C9F2AB39-54D8-47F8-B6C6-8FEAA0F745BE}"/>
              </a:ext>
            </a:extLst>
          </p:cNvPr>
          <p:cNvSpPr>
            <a:spLocks noGrp="1"/>
          </p:cNvSpPr>
          <p:nvPr/>
        </p:nvSpPr>
        <p:spPr>
          <a:xfrm>
            <a:off x="1304925" y="2975104"/>
            <a:ext cx="7641812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40"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enviarCorreo(datos)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  .then(confirmacion =&gt; mostrar(confirmacion))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  .catch(error =&gt; mostrar(error.message))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  .finally(habilitarBoton);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5" name="Google Shape;335;p18">
            <a:extLst>
              <a:ext uri="{FF2B5EF4-FFF2-40B4-BE49-F238E27FC236}">
                <a16:creationId xmlns:a16="http://schemas.microsoft.com/office/drawing/2014/main" id="{3818F497-DFD4-4015-8D0C-157DD691C864}"/>
              </a:ext>
            </a:extLst>
          </p:cNvPr>
          <p:cNvSpPr>
            <a:spLocks noGrp="1"/>
          </p:cNvSpPr>
          <p:nvPr/>
        </p:nvSpPr>
        <p:spPr>
          <a:xfrm>
            <a:off x="990600" y="4622929"/>
            <a:ext cx="8029575" cy="2124075"/>
          </a:xfrm>
          <a:prstGeom prst="roundRect">
            <a:avLst>
              <a:gd name="adj" fmla="val 4484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8">
            <a:extLst>
              <a:ext uri="{FF2B5EF4-FFF2-40B4-BE49-F238E27FC236}">
                <a16:creationId xmlns:a16="http://schemas.microsoft.com/office/drawing/2014/main" id="{CA65A2EC-0FE7-440F-AEC4-DB0ED8A7F1AA}"/>
              </a:ext>
            </a:extLst>
          </p:cNvPr>
          <p:cNvSpPr>
            <a:spLocks noGrp="1"/>
          </p:cNvSpPr>
          <p:nvPr/>
        </p:nvSpPr>
        <p:spPr>
          <a:xfrm>
            <a:off x="1304925" y="4899154"/>
            <a:ext cx="7641812" cy="160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7C7C7C"/>
              </a:buClr>
              <a:buSzPts val="1650"/>
              <a:buFont typeface="Courier New"/>
              <a:buNone/>
            </a:pPr>
            <a:r>
              <a:rPr sz="1650" b="0" i="1" u="none" cap="none">
                <a:solidFill>
                  <a:srgbClr val="7C7C7C"/>
                </a:solidFill>
                <a:latin typeface="Courier New"/>
                <a:ea typeface="Courier New"/>
                <a:cs typeface="Courier New"/>
              </a:rPr>
              <a:t>// finally siempre restaura la interfaz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7" name="Google Shape;337;p18">
            <a:extLst>
              <a:ext uri="{FF2B5EF4-FFF2-40B4-BE49-F238E27FC236}">
                <a16:creationId xmlns:a16="http://schemas.microsoft.com/office/drawing/2014/main" id="{5FF17988-D8F8-4A26-A59A-DAFBAD37CE38}"/>
              </a:ext>
            </a:extLst>
          </p:cNvPr>
          <p:cNvSpPr>
            <a:spLocks noGrp="1"/>
          </p:cNvSpPr>
          <p:nvPr/>
        </p:nvSpPr>
        <p:spPr>
          <a:xfrm>
            <a:off x="9267825" y="2184530"/>
            <a:ext cx="400050" cy="40005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18">
            <a:extLst>
              <a:ext uri="{FF2B5EF4-FFF2-40B4-BE49-F238E27FC236}">
                <a16:creationId xmlns:a16="http://schemas.microsoft.com/office/drawing/2014/main" id="{4BFC5641-7683-4665-BEFC-D0AAFCA35D3B}"/>
              </a:ext>
            </a:extLst>
          </p:cNvPr>
          <p:cNvSpPr>
            <a:spLocks noGrp="1"/>
          </p:cNvSpPr>
          <p:nvPr/>
        </p:nvSpPr>
        <p:spPr>
          <a:xfrm>
            <a:off x="9229725" y="2184530"/>
            <a:ext cx="4762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3115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Arial"/>
              <a:buNone/>
            </a:pPr>
            <a:r>
              <a:rPr sz="165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9" name="Google Shape;339;p18">
            <a:extLst>
              <a:ext uri="{FF2B5EF4-FFF2-40B4-BE49-F238E27FC236}">
                <a16:creationId xmlns:a16="http://schemas.microsoft.com/office/drawing/2014/main" id="{D87AFD4E-7C74-4AE8-B4C2-10D5154D1B22}"/>
              </a:ext>
            </a:extLst>
          </p:cNvPr>
          <p:cNvSpPr>
            <a:spLocks noGrp="1"/>
          </p:cNvSpPr>
          <p:nvPr/>
        </p:nvSpPr>
        <p:spPr>
          <a:xfrm>
            <a:off x="9820275" y="2174558"/>
            <a:ext cx="3346579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64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Con async/await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0" name="Google Shape;340;p18">
            <a:extLst>
              <a:ext uri="{FF2B5EF4-FFF2-40B4-BE49-F238E27FC236}">
                <a16:creationId xmlns:a16="http://schemas.microsoft.com/office/drawing/2014/main" id="{2EA3A045-BAE7-4B5B-8A33-1DFA39E72A23}"/>
              </a:ext>
            </a:extLst>
          </p:cNvPr>
          <p:cNvSpPr>
            <a:spLocks noGrp="1"/>
          </p:cNvSpPr>
          <p:nvPr/>
        </p:nvSpPr>
        <p:spPr>
          <a:xfrm>
            <a:off x="9267825" y="2698879"/>
            <a:ext cx="8029575" cy="3067050"/>
          </a:xfrm>
          <a:prstGeom prst="roundRect">
            <a:avLst>
              <a:gd name="adj" fmla="val 3106"/>
            </a:avLst>
          </a:prstGeom>
          <a:solidFill>
            <a:srgbClr val="141414"/>
          </a:solidFill>
          <a:ln w="9525" cmpd="sng">
            <a:solidFill>
              <a:srgbClr val="2A2A2A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8">
            <a:extLst>
              <a:ext uri="{FF2B5EF4-FFF2-40B4-BE49-F238E27FC236}">
                <a16:creationId xmlns:a16="http://schemas.microsoft.com/office/drawing/2014/main" id="{D0787B35-6819-4C1D-9BB5-C8EBA55552DD}"/>
              </a:ext>
            </a:extLst>
          </p:cNvPr>
          <p:cNvSpPr>
            <a:spLocks noGrp="1"/>
          </p:cNvSpPr>
          <p:nvPr/>
        </p:nvSpPr>
        <p:spPr>
          <a:xfrm>
            <a:off x="9582150" y="2975104"/>
            <a:ext cx="7641812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9B52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FF9B52"/>
                </a:solidFill>
                <a:latin typeface="Courier New"/>
                <a:ea typeface="Courier New"/>
                <a:cs typeface="Courier New"/>
              </a:rPr>
              <a:t>try {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  const confirmacion = await enviarCorreo(datos);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  mostrar(confirmacion);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E6E6E6"/>
                </a:solidFill>
                <a:highlight>
                  <a:srgbClr val="141414"/>
                </a:highlight>
                <a:latin typeface="Courier New"/>
                <a:ea typeface="Courier New"/>
                <a:cs typeface="Courier New"/>
              </a:rPr>
              <a:t>} catch (error) {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  mostrar(error.message);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C3A6FF"/>
              </a:buClr>
              <a:buSzPts val="1650"/>
              <a:buFont typeface="Courier New"/>
              <a:buNone/>
            </a:pPr>
            <a:r>
              <a:rPr sz="1650" b="0" i="0" u="none" cap="none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2" name="Google Shape;342;p18">
            <a:extLst>
              <a:ext uri="{FF2B5EF4-FFF2-40B4-BE49-F238E27FC236}">
                <a16:creationId xmlns:a16="http://schemas.microsoft.com/office/drawing/2014/main" id="{14918246-0359-46C1-B509-7D364E62C136}"/>
              </a:ext>
            </a:extLst>
          </p:cNvPr>
          <p:cNvSpPr>
            <a:spLocks noGrp="1"/>
          </p:cNvSpPr>
          <p:nvPr/>
        </p:nvSpPr>
        <p:spPr>
          <a:xfrm>
            <a:off x="9267825" y="5880229"/>
            <a:ext cx="8029575" cy="211961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8">
            <a:extLst>
              <a:ext uri="{FF2B5EF4-FFF2-40B4-BE49-F238E27FC236}">
                <a16:creationId xmlns:a16="http://schemas.microsoft.com/office/drawing/2014/main" id="{F1889E37-DEFD-4623-A707-71E21456E50C}"/>
              </a:ext>
            </a:extLst>
          </p:cNvPr>
          <p:cNvSpPr>
            <a:spLocks noGrp="1"/>
          </p:cNvSpPr>
          <p:nvPr/>
        </p:nvSpPr>
        <p:spPr>
          <a:xfrm>
            <a:off x="9629775" y="6223129"/>
            <a:ext cx="8036243" cy="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064"/>
          </a:bodyPr>
          <a:lstStyle/>
          <a:p>
            <a:pPr marL="0" marR="0" lv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🟢 Checkpoint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4" name="Google Shape;344;p18">
            <a:extLst>
              <a:ext uri="{FF2B5EF4-FFF2-40B4-BE49-F238E27FC236}">
                <a16:creationId xmlns:a16="http://schemas.microsoft.com/office/drawing/2014/main" id="{758EF4BD-8435-4C14-8663-3AC8681A6CC2}"/>
              </a:ext>
            </a:extLst>
          </p:cNvPr>
          <p:cNvSpPr>
            <a:spLocks noGrp="1"/>
          </p:cNvSpPr>
          <p:nvPr/>
        </p:nvSpPr>
        <p:spPr>
          <a:xfrm>
            <a:off x="9629775" y="6683157"/>
            <a:ext cx="7524845" cy="1011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1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Ambos botones esperan la misma promesa: solo cambia la sintaxis con la que se consume.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5" name="Google Shape;345;p18">
            <a:extLst>
              <a:ext uri="{FF2B5EF4-FFF2-40B4-BE49-F238E27FC236}">
                <a16:creationId xmlns:a16="http://schemas.microsoft.com/office/drawing/2014/main" id="{B63A5167-0411-40AA-A16D-601D0092E35E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8">
            <a:extLst>
              <a:ext uri="{FF2B5EF4-FFF2-40B4-BE49-F238E27FC236}">
                <a16:creationId xmlns:a16="http://schemas.microsoft.com/office/drawing/2014/main" id="{104BEF5F-0590-43B7-AB78-9F085D427520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7" name="Google Shape;347;p18">
            <a:extLst>
              <a:ext uri="{FF2B5EF4-FFF2-40B4-BE49-F238E27FC236}">
                <a16:creationId xmlns:a16="http://schemas.microsoft.com/office/drawing/2014/main" id="{6D14B400-F310-41E4-A340-A657BA485933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10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24634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9">
            <a:extLst>
              <a:ext uri="{FF2B5EF4-FFF2-40B4-BE49-F238E27FC236}">
                <a16:creationId xmlns:a16="http://schemas.microsoft.com/office/drawing/2014/main" id="{76F267DE-BAD8-4262-9E12-736E40AE5496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9">
            <a:extLst>
              <a:ext uri="{FF2B5EF4-FFF2-40B4-BE49-F238E27FC236}">
                <a16:creationId xmlns:a16="http://schemas.microsoft.com/office/drawing/2014/main" id="{E02028AC-4CBE-4B45-BA80-3B5E620DF71A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817048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NODE.JS Y NPM · JAVASCRIPT FUERA DEL NAVEGADOR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5" name="Google Shape;355;p19">
            <a:extLst>
              <a:ext uri="{FF2B5EF4-FFF2-40B4-BE49-F238E27FC236}">
                <a16:creationId xmlns:a16="http://schemas.microsoft.com/office/drawing/2014/main" id="{F15AA98F-E5B6-4DF4-9CFE-5570C81A9AF7}"/>
              </a:ext>
            </a:extLst>
          </p:cNvPr>
          <p:cNvSpPr>
            <a:spLocks noGrp="1"/>
          </p:cNvSpPr>
          <p:nvPr/>
        </p:nvSpPr>
        <p:spPr>
          <a:xfrm>
            <a:off x="990600" y="1478161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Del marketplace a un servidor local_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6" name="Google Shape;356;p19">
            <a:extLst>
              <a:ext uri="{FF2B5EF4-FFF2-40B4-BE49-F238E27FC236}">
                <a16:creationId xmlns:a16="http://schemas.microsoft.com/office/drawing/2014/main" id="{EDA22223-FB12-4DC7-AD9A-A42A9A825139}"/>
              </a:ext>
            </a:extLst>
          </p:cNvPr>
          <p:cNvSpPr>
            <a:spLocks noGrp="1"/>
          </p:cNvSpPr>
          <p:nvPr/>
        </p:nvSpPr>
        <p:spPr>
          <a:xfrm>
            <a:off x="990600" y="2422208"/>
            <a:ext cx="5283101" cy="333345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9">
            <a:extLst>
              <a:ext uri="{FF2B5EF4-FFF2-40B4-BE49-F238E27FC236}">
                <a16:creationId xmlns:a16="http://schemas.microsoft.com/office/drawing/2014/main" id="{28FF7AB9-05CF-4793-944C-BD0F0629DF83}"/>
              </a:ext>
            </a:extLst>
          </p:cNvPr>
          <p:cNvSpPr>
            <a:spLocks noGrp="1"/>
          </p:cNvSpPr>
          <p:nvPr/>
        </p:nvSpPr>
        <p:spPr>
          <a:xfrm>
            <a:off x="1362075" y="2774634"/>
            <a:ext cx="4994166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Navegador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8" name="Google Shape;358;p19">
            <a:extLst>
              <a:ext uri="{FF2B5EF4-FFF2-40B4-BE49-F238E27FC236}">
                <a16:creationId xmlns:a16="http://schemas.microsoft.com/office/drawing/2014/main" id="{A4CCD75C-FCC5-41AF-A345-A89674D56998}"/>
              </a:ext>
            </a:extLst>
          </p:cNvPr>
          <p:cNvSpPr>
            <a:spLocks noGrp="1"/>
          </p:cNvSpPr>
          <p:nvPr/>
        </p:nvSpPr>
        <p:spPr>
          <a:xfrm>
            <a:off x="1362075" y="3388996"/>
            <a:ext cx="571500" cy="2857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C2FBFAC4-5AA1-4569-98DB-521DDB4CCFB2}"/>
              </a:ext>
            </a:extLst>
          </p:cNvPr>
          <p:cNvSpPr>
            <a:spLocks noGrp="1"/>
          </p:cNvSpPr>
          <p:nvPr/>
        </p:nvSpPr>
        <p:spPr>
          <a:xfrm>
            <a:off x="1362075" y="3589021"/>
            <a:ext cx="4676355" cy="70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8083"/>
          </a:bodyPr>
          <a:lstStyle/>
          <a:p>
            <a:pPr marL="0" marR="0" lvl="0" indent="0" algn="l">
              <a:lnSpc>
                <a:spcPct val="1132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DOM, eventos, fetch y la interfaz visible.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0" name="Google Shape;360;p19">
            <a:extLst>
              <a:ext uri="{FF2B5EF4-FFF2-40B4-BE49-F238E27FC236}">
                <a16:creationId xmlns:a16="http://schemas.microsoft.com/office/drawing/2014/main" id="{CC63D083-712E-4965-8912-69AE4CD7ECED}"/>
              </a:ext>
            </a:extLst>
          </p:cNvPr>
          <p:cNvSpPr>
            <a:spLocks noGrp="1"/>
          </p:cNvSpPr>
          <p:nvPr/>
        </p:nvSpPr>
        <p:spPr>
          <a:xfrm>
            <a:off x="1362075" y="4409957"/>
            <a:ext cx="4676355" cy="678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 dirty="0" err="1">
                <a:solidFill>
                  <a:srgbClr val="443E35"/>
                </a:solidFill>
                <a:latin typeface="Arial"/>
                <a:ea typeface="Arial"/>
                <a:cs typeface="Arial"/>
              </a:rPr>
              <a:t>Ejecuta</a:t>
            </a:r>
            <a:r>
              <a:rPr sz="1800" b="0" i="0" u="none" cap="none" dirty="0">
                <a:solidFill>
                  <a:srgbClr val="443E35"/>
                </a:solidFill>
                <a:latin typeface="Arial"/>
                <a:ea typeface="Arial"/>
                <a:cs typeface="Arial"/>
              </a:rPr>
              <a:t> calculos.js </a:t>
            </a:r>
            <a:r>
              <a:rPr sz="1800" b="0" i="0" u="none" cap="none" dirty="0" err="1">
                <a:solidFill>
                  <a:srgbClr val="443E35"/>
                </a:solidFill>
                <a:latin typeface="Arial"/>
                <a:ea typeface="Arial"/>
                <a:cs typeface="Arial"/>
              </a:rPr>
              <a:t>dentro</a:t>
            </a:r>
            <a:r>
              <a:rPr sz="1800" b="0" i="0" u="none" cap="none" dirty="0">
                <a:solidFill>
                  <a:srgbClr val="443E35"/>
                </a:solidFill>
                <a:latin typeface="Arial"/>
                <a:ea typeface="Arial"/>
                <a:cs typeface="Arial"/>
              </a:rPr>
              <a:t> de la </a:t>
            </a:r>
            <a:r>
              <a:rPr sz="1800" b="0" i="0" u="none" cap="none" dirty="0" err="1">
                <a:solidFill>
                  <a:srgbClr val="443E35"/>
                </a:solidFill>
                <a:latin typeface="Arial"/>
                <a:ea typeface="Arial"/>
                <a:cs typeface="Arial"/>
              </a:rPr>
              <a:t>página</a:t>
            </a:r>
            <a:r>
              <a:rPr sz="1800" b="0" i="0" u="none" cap="none" dirty="0">
                <a:solidFill>
                  <a:srgbClr val="443E35"/>
                </a:solidFill>
                <a:latin typeface="Arial"/>
                <a:ea typeface="Arial"/>
                <a:cs typeface="Arial"/>
              </a:rPr>
              <a:t>.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1" name="Google Shape;361;p19">
            <a:extLst>
              <a:ext uri="{FF2B5EF4-FFF2-40B4-BE49-F238E27FC236}">
                <a16:creationId xmlns:a16="http://schemas.microsoft.com/office/drawing/2014/main" id="{D2D4EEEB-9310-4E11-BA34-DE81F27DC85F}"/>
              </a:ext>
            </a:extLst>
          </p:cNvPr>
          <p:cNvSpPr>
            <a:spLocks noGrp="1"/>
          </p:cNvSpPr>
          <p:nvPr/>
        </p:nvSpPr>
        <p:spPr>
          <a:xfrm>
            <a:off x="6502301" y="2422208"/>
            <a:ext cx="5283250" cy="333345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9">
            <a:extLst>
              <a:ext uri="{FF2B5EF4-FFF2-40B4-BE49-F238E27FC236}">
                <a16:creationId xmlns:a16="http://schemas.microsoft.com/office/drawing/2014/main" id="{7DDDBDA0-A2A2-4D9A-A30F-DCF278BD7BDD}"/>
              </a:ext>
            </a:extLst>
          </p:cNvPr>
          <p:cNvSpPr>
            <a:spLocks noGrp="1"/>
          </p:cNvSpPr>
          <p:nvPr/>
        </p:nvSpPr>
        <p:spPr>
          <a:xfrm>
            <a:off x="6873776" y="2774634"/>
            <a:ext cx="49943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Node.js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3" name="Google Shape;363;p19">
            <a:extLst>
              <a:ext uri="{FF2B5EF4-FFF2-40B4-BE49-F238E27FC236}">
                <a16:creationId xmlns:a16="http://schemas.microsoft.com/office/drawing/2014/main" id="{B08EF611-A651-47E4-8BC2-222DCBE5DC76}"/>
              </a:ext>
            </a:extLst>
          </p:cNvPr>
          <p:cNvSpPr>
            <a:spLocks noGrp="1"/>
          </p:cNvSpPr>
          <p:nvPr/>
        </p:nvSpPr>
        <p:spPr>
          <a:xfrm>
            <a:off x="6873776" y="3388996"/>
            <a:ext cx="571500" cy="2857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19">
            <a:extLst>
              <a:ext uri="{FF2B5EF4-FFF2-40B4-BE49-F238E27FC236}">
                <a16:creationId xmlns:a16="http://schemas.microsoft.com/office/drawing/2014/main" id="{9FF29A18-74A5-4371-8AFF-F3B859864EF7}"/>
              </a:ext>
            </a:extLst>
          </p:cNvPr>
          <p:cNvSpPr>
            <a:spLocks noGrp="1"/>
          </p:cNvSpPr>
          <p:nvPr/>
        </p:nvSpPr>
        <p:spPr>
          <a:xfrm>
            <a:off x="6873776" y="3589021"/>
            <a:ext cx="4676509" cy="70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7454"/>
          </a:bodyPr>
          <a:lstStyle/>
          <a:p>
            <a:pPr marL="0" marR="0" lvl="0" indent="0" algn="l">
              <a:lnSpc>
                <a:spcPct val="1132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Ejecuta JavaScript en la computadora o servidor.</a:t>
            </a:r>
            <a:endParaRPr sz="19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5" name="Google Shape;365;p19">
            <a:extLst>
              <a:ext uri="{FF2B5EF4-FFF2-40B4-BE49-F238E27FC236}">
                <a16:creationId xmlns:a16="http://schemas.microsoft.com/office/drawing/2014/main" id="{27D1FDC7-83A3-4756-8B6F-59A65398E18B}"/>
              </a:ext>
            </a:extLst>
          </p:cNvPr>
          <p:cNvSpPr>
            <a:spLocks noGrp="1"/>
          </p:cNvSpPr>
          <p:nvPr/>
        </p:nvSpPr>
        <p:spPr>
          <a:xfrm>
            <a:off x="6873776" y="4409957"/>
            <a:ext cx="4994330" cy="35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346"/>
          </a:bodyPr>
          <a:lstStyle/>
          <a:p>
            <a:pPr marL="0" marR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servidor.js escucha solicitudes en un puerto.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6" name="Google Shape;366;p19">
            <a:extLst>
              <a:ext uri="{FF2B5EF4-FFF2-40B4-BE49-F238E27FC236}">
                <a16:creationId xmlns:a16="http://schemas.microsoft.com/office/drawing/2014/main" id="{B19C0BD5-4820-4FD0-AAB5-ABFA1B25EF5B}"/>
              </a:ext>
            </a:extLst>
          </p:cNvPr>
          <p:cNvSpPr>
            <a:spLocks noGrp="1"/>
          </p:cNvSpPr>
          <p:nvPr/>
        </p:nvSpPr>
        <p:spPr>
          <a:xfrm>
            <a:off x="12014150" y="2422208"/>
            <a:ext cx="5283250" cy="3333452"/>
          </a:xfrm>
          <a:prstGeom prst="rect">
            <a:avLst/>
          </a:prstGeom>
          <a:solidFill>
            <a:srgbClr val="000000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9">
            <a:extLst>
              <a:ext uri="{FF2B5EF4-FFF2-40B4-BE49-F238E27FC236}">
                <a16:creationId xmlns:a16="http://schemas.microsoft.com/office/drawing/2014/main" id="{A09351F2-95DA-4687-B690-EF0E0EBC342D}"/>
              </a:ext>
            </a:extLst>
          </p:cNvPr>
          <p:cNvSpPr>
            <a:spLocks noGrp="1"/>
          </p:cNvSpPr>
          <p:nvPr/>
        </p:nvSpPr>
        <p:spPr>
          <a:xfrm>
            <a:off x="12385625" y="2774634"/>
            <a:ext cx="4994330" cy="481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1736"/>
          </a:bodyPr>
          <a:lstStyle/>
          <a:p>
            <a:pPr marL="0" marR="0" lvl="0" indent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2250"/>
              <a:buFont typeface="Arial"/>
              <a:buNone/>
            </a:pPr>
            <a:r>
              <a:rPr sz="2250" b="0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npm</a:t>
            </a:r>
            <a:endParaRPr sz="225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8" name="Google Shape;368;p19">
            <a:extLst>
              <a:ext uri="{FF2B5EF4-FFF2-40B4-BE49-F238E27FC236}">
                <a16:creationId xmlns:a16="http://schemas.microsoft.com/office/drawing/2014/main" id="{C419AC72-FD70-4DD6-959C-04E14088F710}"/>
              </a:ext>
            </a:extLst>
          </p:cNvPr>
          <p:cNvSpPr>
            <a:spLocks noGrp="1"/>
          </p:cNvSpPr>
          <p:nvPr/>
        </p:nvSpPr>
        <p:spPr>
          <a:xfrm>
            <a:off x="12385625" y="3388996"/>
            <a:ext cx="571500" cy="28575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9">
            <a:extLst>
              <a:ext uri="{FF2B5EF4-FFF2-40B4-BE49-F238E27FC236}">
                <a16:creationId xmlns:a16="http://schemas.microsoft.com/office/drawing/2014/main" id="{98DC294A-49DE-4C64-9C9D-0505A51CDDA2}"/>
              </a:ext>
            </a:extLst>
          </p:cNvPr>
          <p:cNvSpPr>
            <a:spLocks noGrp="1"/>
          </p:cNvSpPr>
          <p:nvPr/>
        </p:nvSpPr>
        <p:spPr>
          <a:xfrm>
            <a:off x="12385625" y="3589021"/>
            <a:ext cx="4676509" cy="104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322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sz="195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Gestiona</a:t>
            </a:r>
            <a:r>
              <a:rPr sz="195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</a:t>
            </a:r>
            <a:r>
              <a:rPr sz="195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proyecto</a:t>
            </a:r>
            <a:r>
              <a:rPr sz="195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195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paquetes</a:t>
            </a:r>
            <a:r>
              <a:rPr sz="195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y </a:t>
            </a:r>
            <a:r>
              <a:rPr sz="195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comandos</a:t>
            </a:r>
            <a:r>
              <a:rPr sz="195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  <a:endParaRPr sz="195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0" name="Google Shape;370;p19">
            <a:extLst>
              <a:ext uri="{FF2B5EF4-FFF2-40B4-BE49-F238E27FC236}">
                <a16:creationId xmlns:a16="http://schemas.microsoft.com/office/drawing/2014/main" id="{9068FE5D-CF3A-4262-99E3-57C5AD07A78D}"/>
              </a:ext>
            </a:extLst>
          </p:cNvPr>
          <p:cNvSpPr>
            <a:spLocks noGrp="1"/>
          </p:cNvSpPr>
          <p:nvPr/>
        </p:nvSpPr>
        <p:spPr>
          <a:xfrm>
            <a:off x="12385625" y="4744225"/>
            <a:ext cx="4676509" cy="697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8169"/>
          </a:bodyPr>
          <a:lstStyle/>
          <a:p>
            <a:pPr marL="0" marR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FC5B7"/>
              </a:buClr>
              <a:buSzPts val="1800"/>
              <a:buFont typeface="Arial"/>
              <a:buNone/>
            </a:pPr>
            <a:r>
              <a:rPr sz="1800" b="0" i="0" u="none" cap="none" dirty="0" err="1">
                <a:solidFill>
                  <a:srgbClr val="CFC5B7"/>
                </a:solidFill>
                <a:latin typeface="Arial"/>
                <a:ea typeface="Arial"/>
                <a:cs typeface="Arial"/>
              </a:rPr>
              <a:t>package.json</a:t>
            </a:r>
            <a:r>
              <a:rPr sz="1800" b="0" i="0" u="none" cap="none" dirty="0">
                <a:solidFill>
                  <a:srgbClr val="CFC5B7"/>
                </a:solidFill>
                <a:latin typeface="Arial"/>
                <a:ea typeface="Arial"/>
                <a:cs typeface="Arial"/>
              </a:rPr>
              <a:t> define </a:t>
            </a:r>
            <a:r>
              <a:rPr sz="1800" b="0" i="0" u="none" cap="none" dirty="0" err="1">
                <a:solidFill>
                  <a:srgbClr val="CFC5B7"/>
                </a:solidFill>
                <a:latin typeface="Arial"/>
                <a:ea typeface="Arial"/>
                <a:cs typeface="Arial"/>
              </a:rPr>
              <a:t>npm</a:t>
            </a:r>
            <a:r>
              <a:rPr sz="1800" b="0" i="0" u="none" cap="none" dirty="0">
                <a:solidFill>
                  <a:srgbClr val="CFC5B7"/>
                </a:solidFill>
                <a:latin typeface="Arial"/>
                <a:ea typeface="Arial"/>
                <a:cs typeface="Arial"/>
              </a:rPr>
              <a:t> start y </a:t>
            </a:r>
            <a:r>
              <a:rPr sz="1800" b="0" i="0" u="none" cap="none" dirty="0" err="1">
                <a:solidFill>
                  <a:srgbClr val="CFC5B7"/>
                </a:solidFill>
                <a:latin typeface="Arial"/>
                <a:ea typeface="Arial"/>
                <a:cs typeface="Arial"/>
              </a:rPr>
              <a:t>npm</a:t>
            </a:r>
            <a:r>
              <a:rPr sz="1800" b="0" i="0" u="none" cap="none" dirty="0">
                <a:solidFill>
                  <a:srgbClr val="CFC5B7"/>
                </a:solidFill>
                <a:latin typeface="Arial"/>
                <a:ea typeface="Arial"/>
                <a:cs typeface="Arial"/>
              </a:rPr>
              <a:t> run check.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1" name="Google Shape;371;p19">
            <a:extLst>
              <a:ext uri="{FF2B5EF4-FFF2-40B4-BE49-F238E27FC236}">
                <a16:creationId xmlns:a16="http://schemas.microsoft.com/office/drawing/2014/main" id="{DA9BF0B1-5842-4475-A1CB-DBB11E8434B4}"/>
              </a:ext>
            </a:extLst>
          </p:cNvPr>
          <p:cNvSpPr>
            <a:spLocks noGrp="1"/>
          </p:cNvSpPr>
          <p:nvPr/>
        </p:nvSpPr>
        <p:spPr>
          <a:xfrm>
            <a:off x="990600" y="8106117"/>
            <a:ext cx="16306800" cy="1381125"/>
          </a:xfrm>
          <a:prstGeom prst="rect">
            <a:avLst/>
          </a:prstGeom>
          <a:solidFill>
            <a:srgbClr val="EFEAE4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9">
            <a:extLst>
              <a:ext uri="{FF2B5EF4-FFF2-40B4-BE49-F238E27FC236}">
                <a16:creationId xmlns:a16="http://schemas.microsoft.com/office/drawing/2014/main" id="{44E04CAB-AA55-488E-92DF-EC38F1977D48}"/>
              </a:ext>
            </a:extLst>
          </p:cNvPr>
          <p:cNvSpPr>
            <a:spLocks noGrp="1"/>
          </p:cNvSpPr>
          <p:nvPr/>
        </p:nvSpPr>
        <p:spPr>
          <a:xfrm>
            <a:off x="1362075" y="8458542"/>
            <a:ext cx="16030766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24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🟣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Prueba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ejecuta</a:t>
            </a:r>
            <a:r>
              <a:rPr lang="en-US"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npm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init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–y </a:t>
            </a:r>
            <a:r>
              <a:rPr lang="en-US"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lanzar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posterior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node servidor.js 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abre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http://localhost:3000. localhost es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tu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equipo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; 3000 es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7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puerto</a:t>
            </a:r>
            <a:r>
              <a:rPr sz="187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187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3" name="Google Shape;373;p19">
            <a:extLst>
              <a:ext uri="{FF2B5EF4-FFF2-40B4-BE49-F238E27FC236}">
                <a16:creationId xmlns:a16="http://schemas.microsoft.com/office/drawing/2014/main" id="{32836BFD-8481-49C9-AE73-9B37E8A8A01A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9">
            <a:extLst>
              <a:ext uri="{FF2B5EF4-FFF2-40B4-BE49-F238E27FC236}">
                <a16:creationId xmlns:a16="http://schemas.microsoft.com/office/drawing/2014/main" id="{E2C35B31-E3D8-40F1-A386-71A6B479FA34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5" name="Google Shape;375;p19">
            <a:extLst>
              <a:ext uri="{FF2B5EF4-FFF2-40B4-BE49-F238E27FC236}">
                <a16:creationId xmlns:a16="http://schemas.microsoft.com/office/drawing/2014/main" id="{2951D621-3FFF-4B8C-A1AC-A5A255CF1A47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11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1569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2">
            <a:extLst>
              <a:ext uri="{FF2B5EF4-FFF2-40B4-BE49-F238E27FC236}">
                <a16:creationId xmlns:a16="http://schemas.microsoft.com/office/drawing/2014/main" id="{55A87510-6F8B-4375-AFD2-560AB83DFA66}"/>
              </a:ext>
            </a:extLst>
          </p:cNvPr>
          <p:cNvSpPr>
            <a:spLocks noGrp="1"/>
          </p:cNvSpPr>
          <p:nvPr/>
        </p:nvSpPr>
        <p:spPr>
          <a:xfrm>
            <a:off x="990600" y="996255"/>
            <a:ext cx="114300" cy="114300"/>
          </a:xfrm>
          <a:prstGeom prst="ellipse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22">
            <a:extLst>
              <a:ext uri="{FF2B5EF4-FFF2-40B4-BE49-F238E27FC236}">
                <a16:creationId xmlns:a16="http://schemas.microsoft.com/office/drawing/2014/main" id="{0262017E-C2AC-49BE-A47B-CC808E95E235}"/>
              </a:ext>
            </a:extLst>
          </p:cNvPr>
          <p:cNvSpPr>
            <a:spLocks noGrp="1"/>
          </p:cNvSpPr>
          <p:nvPr/>
        </p:nvSpPr>
        <p:spPr>
          <a:xfrm>
            <a:off x="1238250" y="876300"/>
            <a:ext cx="962898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443E35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443E35"/>
                </a:solidFill>
                <a:latin typeface="Arial"/>
                <a:ea typeface="Arial"/>
                <a:cs typeface="Arial"/>
              </a:rPr>
              <a:t>🏁 CIERRE · CONEXIÓN CON EL PROYECTO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3" name="Google Shape;383;p22">
            <a:extLst>
              <a:ext uri="{FF2B5EF4-FFF2-40B4-BE49-F238E27FC236}">
                <a16:creationId xmlns:a16="http://schemas.microsoft.com/office/drawing/2014/main" id="{BCEAD981-FE3D-4B19-A8EC-D9E95093191A}"/>
              </a:ext>
            </a:extLst>
          </p:cNvPr>
          <p:cNvSpPr>
            <a:spLocks noGrp="1"/>
          </p:cNvSpPr>
          <p:nvPr/>
        </p:nvSpPr>
        <p:spPr>
          <a:xfrm>
            <a:off x="990600" y="1440064"/>
            <a:ext cx="17937480" cy="582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4450"/>
          </a:bodyPr>
          <a:lstStyle/>
          <a:p>
            <a:pPr marL="0" marR="0" lvl="0" indent="0" algn="l">
              <a:lnSpc>
                <a:spcPct val="878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sz="4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marketplace ahora conversa con servicios externos_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4" name="Google Shape;384;p22">
            <a:extLst>
              <a:ext uri="{FF2B5EF4-FFF2-40B4-BE49-F238E27FC236}">
                <a16:creationId xmlns:a16="http://schemas.microsoft.com/office/drawing/2014/main" id="{CE686B2E-FA12-4345-9239-7D1AB7BCE603}"/>
              </a:ext>
            </a:extLst>
          </p:cNvPr>
          <p:cNvSpPr>
            <a:spLocks noGrp="1"/>
          </p:cNvSpPr>
          <p:nvPr/>
        </p:nvSpPr>
        <p:spPr>
          <a:xfrm>
            <a:off x="990600" y="2193720"/>
            <a:ext cx="16306800" cy="1804243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2">
            <a:extLst>
              <a:ext uri="{FF2B5EF4-FFF2-40B4-BE49-F238E27FC236}">
                <a16:creationId xmlns:a16="http://schemas.microsoft.com/office/drawing/2014/main" id="{FB081BEA-746B-45EA-A832-476117CEC3F2}"/>
              </a:ext>
            </a:extLst>
          </p:cNvPr>
          <p:cNvSpPr>
            <a:spLocks noGrp="1"/>
          </p:cNvSpPr>
          <p:nvPr/>
        </p:nvSpPr>
        <p:spPr>
          <a:xfrm>
            <a:off x="1352550" y="2536620"/>
            <a:ext cx="16050387" cy="1156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262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PokéAPI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demuestra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cómo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pedir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esperar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validar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y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mostrar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datos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El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correo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simulado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demuestra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cómo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una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promesa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se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resuelve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 se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rechaza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sin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bloquear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la </a:t>
            </a:r>
            <a:r>
              <a:rPr sz="2025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interfaz</a:t>
            </a:r>
            <a:r>
              <a:rPr sz="2025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2025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6" name="Google Shape;386;p22">
            <a:extLst>
              <a:ext uri="{FF2B5EF4-FFF2-40B4-BE49-F238E27FC236}">
                <a16:creationId xmlns:a16="http://schemas.microsoft.com/office/drawing/2014/main" id="{A3A652E4-70B3-4D1C-A5D7-B8DBB12A0AD0}"/>
              </a:ext>
            </a:extLst>
          </p:cNvPr>
          <p:cNvSpPr>
            <a:spLocks noGrp="1"/>
          </p:cNvSpPr>
          <p:nvPr/>
        </p:nvSpPr>
        <p:spPr>
          <a:xfrm>
            <a:off x="990600" y="4227230"/>
            <a:ext cx="9791700" cy="3332262"/>
          </a:xfrm>
          <a:prstGeom prst="rect">
            <a:avLst/>
          </a:prstGeom>
          <a:solidFill>
            <a:srgbClr val="FFFFFF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22">
            <a:extLst>
              <a:ext uri="{FF2B5EF4-FFF2-40B4-BE49-F238E27FC236}">
                <a16:creationId xmlns:a16="http://schemas.microsoft.com/office/drawing/2014/main" id="{8D737FCD-BB11-4FD8-9544-A75F36A112FB}"/>
              </a:ext>
            </a:extLst>
          </p:cNvPr>
          <p:cNvSpPr>
            <a:spLocks noGrp="1"/>
          </p:cNvSpPr>
          <p:nvPr/>
        </p:nvSpPr>
        <p:spPr>
          <a:xfrm>
            <a:off x="1362075" y="4579655"/>
            <a:ext cx="995362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Arial"/>
              <a:buNone/>
            </a:pPr>
            <a:r>
              <a:rPr sz="1800" b="1" i="0" u="none" cap="none" dirty="0">
                <a:solidFill>
                  <a:srgbClr val="FF7E08"/>
                </a:solidFill>
                <a:latin typeface="Arial"/>
                <a:ea typeface="Arial"/>
                <a:cs typeface="Arial"/>
              </a:rPr>
              <a:t>TAREA DE LA SEMANA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8" name="Google Shape;388;p22">
            <a:extLst>
              <a:ext uri="{FF2B5EF4-FFF2-40B4-BE49-F238E27FC236}">
                <a16:creationId xmlns:a16="http://schemas.microsoft.com/office/drawing/2014/main" id="{E9F43207-BD15-42EB-887E-508C94546A12}"/>
              </a:ext>
            </a:extLst>
          </p:cNvPr>
          <p:cNvSpPr>
            <a:spLocks noGrp="1"/>
          </p:cNvSpPr>
          <p:nvPr/>
        </p:nvSpPr>
        <p:spPr>
          <a:xfrm>
            <a:off x="1362075" y="5114841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22">
            <a:extLst>
              <a:ext uri="{FF2B5EF4-FFF2-40B4-BE49-F238E27FC236}">
                <a16:creationId xmlns:a16="http://schemas.microsoft.com/office/drawing/2014/main" id="{3684E863-3188-4487-AA6B-31D1E778F9F6}"/>
              </a:ext>
            </a:extLst>
          </p:cNvPr>
          <p:cNvSpPr>
            <a:spLocks noGrp="1"/>
          </p:cNvSpPr>
          <p:nvPr/>
        </p:nvSpPr>
        <p:spPr>
          <a:xfrm>
            <a:off x="1323975" y="5114841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0" name="Google Shape;390;p22">
            <a:extLst>
              <a:ext uri="{FF2B5EF4-FFF2-40B4-BE49-F238E27FC236}">
                <a16:creationId xmlns:a16="http://schemas.microsoft.com/office/drawing/2014/main" id="{6E340E82-DE4E-47CC-841A-28C083126EA3}"/>
              </a:ext>
            </a:extLst>
          </p:cNvPr>
          <p:cNvSpPr>
            <a:spLocks noGrp="1"/>
          </p:cNvSpPr>
          <p:nvPr/>
        </p:nvSpPr>
        <p:spPr>
          <a:xfrm>
            <a:off x="1876425" y="5086266"/>
            <a:ext cx="8790432" cy="668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lnSpcReduction="10000"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Probar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PokéAPI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con un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nombre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válido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y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otro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inexistente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Adicional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otra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api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publica de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preferencia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1" name="Google Shape;391;p22">
            <a:extLst>
              <a:ext uri="{FF2B5EF4-FFF2-40B4-BE49-F238E27FC236}">
                <a16:creationId xmlns:a16="http://schemas.microsoft.com/office/drawing/2014/main" id="{2326B948-26EA-43C4-82E5-D22AC72BEE60}"/>
              </a:ext>
            </a:extLst>
          </p:cNvPr>
          <p:cNvSpPr>
            <a:spLocks noGrp="1"/>
          </p:cNvSpPr>
          <p:nvPr/>
        </p:nvSpPr>
        <p:spPr>
          <a:xfrm>
            <a:off x="1362075" y="5859875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22">
            <a:extLst>
              <a:ext uri="{FF2B5EF4-FFF2-40B4-BE49-F238E27FC236}">
                <a16:creationId xmlns:a16="http://schemas.microsoft.com/office/drawing/2014/main" id="{C731813D-6ABC-4AD3-ACD6-34F1F28E5C8A}"/>
              </a:ext>
            </a:extLst>
          </p:cNvPr>
          <p:cNvSpPr>
            <a:spLocks noGrp="1"/>
          </p:cNvSpPr>
          <p:nvPr/>
        </p:nvSpPr>
        <p:spPr>
          <a:xfrm>
            <a:off x="1323975" y="5859875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3" name="Google Shape;393;p22">
            <a:extLst>
              <a:ext uri="{FF2B5EF4-FFF2-40B4-BE49-F238E27FC236}">
                <a16:creationId xmlns:a16="http://schemas.microsoft.com/office/drawing/2014/main" id="{F2035D00-D9F8-4417-B1BB-53B944C372B6}"/>
              </a:ext>
            </a:extLst>
          </p:cNvPr>
          <p:cNvSpPr>
            <a:spLocks noGrp="1"/>
          </p:cNvSpPr>
          <p:nvPr/>
        </p:nvSpPr>
        <p:spPr>
          <a:xfrm>
            <a:off x="1876425" y="5831300"/>
            <a:ext cx="8790432" cy="668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Realizar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implementaciones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 .then() y con async/await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usando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la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misma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promesa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4" name="Google Shape;394;p22">
            <a:extLst>
              <a:ext uri="{FF2B5EF4-FFF2-40B4-BE49-F238E27FC236}">
                <a16:creationId xmlns:a16="http://schemas.microsoft.com/office/drawing/2014/main" id="{61B0B848-7F1D-4BE5-A165-82812C7E46DC}"/>
              </a:ext>
            </a:extLst>
          </p:cNvPr>
          <p:cNvSpPr>
            <a:spLocks noGrp="1"/>
          </p:cNvSpPr>
          <p:nvPr/>
        </p:nvSpPr>
        <p:spPr>
          <a:xfrm>
            <a:off x="1362075" y="6604908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22">
            <a:extLst>
              <a:ext uri="{FF2B5EF4-FFF2-40B4-BE49-F238E27FC236}">
                <a16:creationId xmlns:a16="http://schemas.microsoft.com/office/drawing/2014/main" id="{9F6DD1B3-C938-4B8C-905F-3089A24E51FD}"/>
              </a:ext>
            </a:extLst>
          </p:cNvPr>
          <p:cNvSpPr>
            <a:spLocks noGrp="1"/>
          </p:cNvSpPr>
          <p:nvPr/>
        </p:nvSpPr>
        <p:spPr>
          <a:xfrm>
            <a:off x="1323975" y="6604908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6" name="Google Shape;396;p22">
            <a:extLst>
              <a:ext uri="{FF2B5EF4-FFF2-40B4-BE49-F238E27FC236}">
                <a16:creationId xmlns:a16="http://schemas.microsoft.com/office/drawing/2014/main" id="{91725C27-AA43-43D9-800D-EB7312509620}"/>
              </a:ext>
            </a:extLst>
          </p:cNvPr>
          <p:cNvSpPr>
            <a:spLocks noGrp="1"/>
          </p:cNvSpPr>
          <p:nvPr/>
        </p:nvSpPr>
        <p:spPr>
          <a:xfrm>
            <a:off x="1876425" y="6576333"/>
            <a:ext cx="8790432" cy="668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/>
          </a:bodyPr>
          <a:lstStyle/>
          <a:p>
            <a:pPr marL="0" marR="0" lvl="0" indent="0" algn="l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Ejecutar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node 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confirmar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que localhost:3000 </a:t>
            </a:r>
            <a:r>
              <a:rPr sz="1800" b="0" i="0" u="none" cap="none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responde</a:t>
            </a:r>
            <a:r>
              <a:rPr sz="1800" b="0" i="0" u="none" cap="none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1800" b="0" i="0" u="none" cap="none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7" name="Google Shape;397;p22">
            <a:extLst>
              <a:ext uri="{FF2B5EF4-FFF2-40B4-BE49-F238E27FC236}">
                <a16:creationId xmlns:a16="http://schemas.microsoft.com/office/drawing/2014/main" id="{BC9AA3DD-FC63-46E6-AFB7-CCF491343CD8}"/>
              </a:ext>
            </a:extLst>
          </p:cNvPr>
          <p:cNvSpPr>
            <a:spLocks noGrp="1"/>
          </p:cNvSpPr>
          <p:nvPr/>
        </p:nvSpPr>
        <p:spPr>
          <a:xfrm>
            <a:off x="11010900" y="4227230"/>
            <a:ext cx="6286500" cy="3254276"/>
          </a:xfrm>
          <a:prstGeom prst="rect">
            <a:avLst/>
          </a:prstGeom>
          <a:solidFill>
            <a:srgbClr val="EFEAE4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2">
            <a:extLst>
              <a:ext uri="{FF2B5EF4-FFF2-40B4-BE49-F238E27FC236}">
                <a16:creationId xmlns:a16="http://schemas.microsoft.com/office/drawing/2014/main" id="{E7854510-EC32-4038-BD2A-38BB81E84512}"/>
              </a:ext>
            </a:extLst>
          </p:cNvPr>
          <p:cNvSpPr>
            <a:spLocks noGrp="1"/>
          </p:cNvSpPr>
          <p:nvPr/>
        </p:nvSpPr>
        <p:spPr>
          <a:xfrm>
            <a:off x="11382375" y="4579655"/>
            <a:ext cx="6097905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FF7E08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F7E08"/>
                </a:solidFill>
                <a:latin typeface="Arial"/>
                <a:ea typeface="Arial"/>
                <a:cs typeface="Arial"/>
              </a:rPr>
              <a:t>CHECKLIST MÍNIMO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9" name="Google Shape;399;p22">
            <a:extLst>
              <a:ext uri="{FF2B5EF4-FFF2-40B4-BE49-F238E27FC236}">
                <a16:creationId xmlns:a16="http://schemas.microsoft.com/office/drawing/2014/main" id="{A8C26F4B-674C-4918-B5BF-8C7E4A51A845}"/>
              </a:ext>
            </a:extLst>
          </p:cNvPr>
          <p:cNvSpPr>
            <a:spLocks noGrp="1"/>
          </p:cNvSpPr>
          <p:nvPr/>
        </p:nvSpPr>
        <p:spPr>
          <a:xfrm>
            <a:off x="11382375" y="5095791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2">
            <a:extLst>
              <a:ext uri="{FF2B5EF4-FFF2-40B4-BE49-F238E27FC236}">
                <a16:creationId xmlns:a16="http://schemas.microsoft.com/office/drawing/2014/main" id="{087619F6-F505-4F55-8A1A-BD7D89F12374}"/>
              </a:ext>
            </a:extLst>
          </p:cNvPr>
          <p:cNvSpPr>
            <a:spLocks noGrp="1"/>
          </p:cNvSpPr>
          <p:nvPr/>
        </p:nvSpPr>
        <p:spPr>
          <a:xfrm>
            <a:off x="11344275" y="5095791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1" name="Google Shape;401;p22">
            <a:extLst>
              <a:ext uri="{FF2B5EF4-FFF2-40B4-BE49-F238E27FC236}">
                <a16:creationId xmlns:a16="http://schemas.microsoft.com/office/drawing/2014/main" id="{B329C1F2-253E-49AD-9956-FD8AAB62074F}"/>
              </a:ext>
            </a:extLst>
          </p:cNvPr>
          <p:cNvSpPr>
            <a:spLocks noGrp="1"/>
          </p:cNvSpPr>
          <p:nvPr/>
        </p:nvSpPr>
        <p:spPr>
          <a:xfrm>
            <a:off x="11896725" y="5067216"/>
            <a:ext cx="3616866" cy="34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85311"/>
          </a:bodyPr>
          <a:lstStyle/>
          <a:p>
            <a:pPr marL="0" marR="0" lvl="0" indent="0" algn="l">
              <a:lnSpc>
                <a:spcPct val="11755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 muestra carga, éxito y error en el DOM.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2" name="Google Shape;402;p22">
            <a:extLst>
              <a:ext uri="{FF2B5EF4-FFF2-40B4-BE49-F238E27FC236}">
                <a16:creationId xmlns:a16="http://schemas.microsoft.com/office/drawing/2014/main" id="{02339550-0D9D-4BB3-8685-8EF1BDFAF956}"/>
              </a:ext>
            </a:extLst>
          </p:cNvPr>
          <p:cNvSpPr>
            <a:spLocks noGrp="1"/>
          </p:cNvSpPr>
          <p:nvPr/>
        </p:nvSpPr>
        <p:spPr>
          <a:xfrm>
            <a:off x="11382375" y="5581566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22">
            <a:extLst>
              <a:ext uri="{FF2B5EF4-FFF2-40B4-BE49-F238E27FC236}">
                <a16:creationId xmlns:a16="http://schemas.microsoft.com/office/drawing/2014/main" id="{6264535D-E623-4494-BF5F-FCAF1B3B8C7D}"/>
              </a:ext>
            </a:extLst>
          </p:cNvPr>
          <p:cNvSpPr>
            <a:spLocks noGrp="1"/>
          </p:cNvSpPr>
          <p:nvPr/>
        </p:nvSpPr>
        <p:spPr>
          <a:xfrm>
            <a:off x="11344275" y="5581566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4" name="Google Shape;404;p22">
            <a:extLst>
              <a:ext uri="{FF2B5EF4-FFF2-40B4-BE49-F238E27FC236}">
                <a16:creationId xmlns:a16="http://schemas.microsoft.com/office/drawing/2014/main" id="{41B0E267-A12B-4475-BBC8-8264EC573382}"/>
              </a:ext>
            </a:extLst>
          </p:cNvPr>
          <p:cNvSpPr>
            <a:spLocks noGrp="1"/>
          </p:cNvSpPr>
          <p:nvPr/>
        </p:nvSpPr>
        <p:spPr>
          <a:xfrm>
            <a:off x="11896725" y="5552991"/>
            <a:ext cx="3081040" cy="34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68850"/>
          </a:bodyPr>
          <a:lstStyle/>
          <a:p>
            <a:pPr marL="0" marR="0" lvl="0" indent="0" algn="l">
              <a:lnSpc>
                <a:spcPct val="11755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response.ok se revisa antes de leer el JSON.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5" name="Google Shape;405;p22">
            <a:extLst>
              <a:ext uri="{FF2B5EF4-FFF2-40B4-BE49-F238E27FC236}">
                <a16:creationId xmlns:a16="http://schemas.microsoft.com/office/drawing/2014/main" id="{7B814E3F-AC69-482F-83B4-2671C04DA6FF}"/>
              </a:ext>
            </a:extLst>
          </p:cNvPr>
          <p:cNvSpPr>
            <a:spLocks noGrp="1"/>
          </p:cNvSpPr>
          <p:nvPr/>
        </p:nvSpPr>
        <p:spPr>
          <a:xfrm>
            <a:off x="11382375" y="6067341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2">
            <a:extLst>
              <a:ext uri="{FF2B5EF4-FFF2-40B4-BE49-F238E27FC236}">
                <a16:creationId xmlns:a16="http://schemas.microsoft.com/office/drawing/2014/main" id="{7636E185-6C58-4800-A744-F35A2DE5C62E}"/>
              </a:ext>
            </a:extLst>
          </p:cNvPr>
          <p:cNvSpPr>
            <a:spLocks noGrp="1"/>
          </p:cNvSpPr>
          <p:nvPr/>
        </p:nvSpPr>
        <p:spPr>
          <a:xfrm>
            <a:off x="11344275" y="6067341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7" name="Google Shape;407;p22">
            <a:extLst>
              <a:ext uri="{FF2B5EF4-FFF2-40B4-BE49-F238E27FC236}">
                <a16:creationId xmlns:a16="http://schemas.microsoft.com/office/drawing/2014/main" id="{6F17833B-CFEA-4301-8F67-66FE45F61353}"/>
              </a:ext>
            </a:extLst>
          </p:cNvPr>
          <p:cNvSpPr>
            <a:spLocks noGrp="1"/>
          </p:cNvSpPr>
          <p:nvPr/>
        </p:nvSpPr>
        <p:spPr>
          <a:xfrm>
            <a:off x="11896725" y="6038766"/>
            <a:ext cx="5180076" cy="64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6846"/>
          </a:bodyPr>
          <a:lstStyle/>
          <a:p>
            <a:pPr marL="0" marR="0" lvl="0" indent="0" algn="l">
              <a:lnSpc>
                <a:spcPct val="11755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catch maneja el rechazo sin errores rojos sin controlar.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8" name="Google Shape;408;p22">
            <a:extLst>
              <a:ext uri="{FF2B5EF4-FFF2-40B4-BE49-F238E27FC236}">
                <a16:creationId xmlns:a16="http://schemas.microsoft.com/office/drawing/2014/main" id="{4C6F6FB3-10DA-4473-9FBC-063DDAB696CE}"/>
              </a:ext>
            </a:extLst>
          </p:cNvPr>
          <p:cNvSpPr>
            <a:spLocks noGrp="1"/>
          </p:cNvSpPr>
          <p:nvPr/>
        </p:nvSpPr>
        <p:spPr>
          <a:xfrm>
            <a:off x="11382375" y="6767131"/>
            <a:ext cx="361950" cy="361950"/>
          </a:xfrm>
          <a:prstGeom prst="ellipse">
            <a:avLst/>
          </a:prstGeom>
          <a:solidFill>
            <a:srgbClr val="D7F4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2">
            <a:extLst>
              <a:ext uri="{FF2B5EF4-FFF2-40B4-BE49-F238E27FC236}">
                <a16:creationId xmlns:a16="http://schemas.microsoft.com/office/drawing/2014/main" id="{97006EAA-590A-4ED1-8E46-E7C841C4ADE5}"/>
              </a:ext>
            </a:extLst>
          </p:cNvPr>
          <p:cNvSpPr>
            <a:spLocks noGrp="1"/>
          </p:cNvSpPr>
          <p:nvPr/>
        </p:nvSpPr>
        <p:spPr>
          <a:xfrm>
            <a:off x="11344275" y="6767131"/>
            <a:ext cx="4381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>
            <a:normAutofit/>
          </a:bodyPr>
          <a:lstStyle/>
          <a:p>
            <a:pPr marL="0" marR="0" lvl="0" indent="0" algn="ctr">
              <a:lnSpc>
                <a:spcPct val="118286"/>
              </a:lnSpc>
              <a:spcBef>
                <a:spcPts val="0"/>
              </a:spcBef>
              <a:spcAft>
                <a:spcPts val="0"/>
              </a:spcAft>
              <a:buClr>
                <a:srgbClr val="1F8A5B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F8A5B"/>
                </a:solidFill>
                <a:latin typeface="Arial"/>
                <a:ea typeface="Arial"/>
                <a:cs typeface="Arial"/>
              </a:rPr>
              <a:t>✓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0" name="Google Shape;410;p22">
            <a:extLst>
              <a:ext uri="{FF2B5EF4-FFF2-40B4-BE49-F238E27FC236}">
                <a16:creationId xmlns:a16="http://schemas.microsoft.com/office/drawing/2014/main" id="{362FBE4E-2FBF-4D5F-8B95-3F736B9F9859}"/>
              </a:ext>
            </a:extLst>
          </p:cNvPr>
          <p:cNvSpPr>
            <a:spLocks noGrp="1"/>
          </p:cNvSpPr>
          <p:nvPr/>
        </p:nvSpPr>
        <p:spPr>
          <a:xfrm>
            <a:off x="11896725" y="6738556"/>
            <a:ext cx="3469526" cy="34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73585"/>
          </a:bodyPr>
          <a:lstStyle/>
          <a:p>
            <a:pPr marL="0" marR="0" lvl="0" indent="0" algn="l">
              <a:lnSpc>
                <a:spcPct val="11755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finally restaura los botones después de esperar.</a:t>
            </a:r>
            <a:endParaRPr sz="1725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1" name="Google Shape;411;p22">
            <a:extLst>
              <a:ext uri="{FF2B5EF4-FFF2-40B4-BE49-F238E27FC236}">
                <a16:creationId xmlns:a16="http://schemas.microsoft.com/office/drawing/2014/main" id="{4098748E-C260-45CB-8B2C-4DFEEEF2BBC8}"/>
              </a:ext>
            </a:extLst>
          </p:cNvPr>
          <p:cNvSpPr>
            <a:spLocks noGrp="1"/>
          </p:cNvSpPr>
          <p:nvPr/>
        </p:nvSpPr>
        <p:spPr>
          <a:xfrm>
            <a:off x="11010900" y="7633906"/>
            <a:ext cx="6286500" cy="1344811"/>
          </a:xfrm>
          <a:prstGeom prst="rect">
            <a:avLst/>
          </a:prstGeom>
          <a:solidFill>
            <a:srgbClr val="000000"/>
          </a:solidFill>
          <a:ln w="9525" cmpd="sng">
            <a:solidFill>
              <a:srgbClr val="E2DCD3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2">
            <a:extLst>
              <a:ext uri="{FF2B5EF4-FFF2-40B4-BE49-F238E27FC236}">
                <a16:creationId xmlns:a16="http://schemas.microsoft.com/office/drawing/2014/main" id="{B521A591-B416-4BEA-B06E-6C5414E5FF56}"/>
              </a:ext>
            </a:extLst>
          </p:cNvPr>
          <p:cNvSpPr>
            <a:spLocks noGrp="1"/>
          </p:cNvSpPr>
          <p:nvPr/>
        </p:nvSpPr>
        <p:spPr>
          <a:xfrm>
            <a:off x="11382375" y="7986331"/>
            <a:ext cx="5709857" cy="678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5275"/>
          </a:bodyPr>
          <a:lstStyle/>
          <a:p>
            <a:pPr marL="0" marR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🟢 Siguiente paso: conectar una API relacionada con el emprendimiento.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3" name="Google Shape;413;p22">
            <a:extLst>
              <a:ext uri="{FF2B5EF4-FFF2-40B4-BE49-F238E27FC236}">
                <a16:creationId xmlns:a16="http://schemas.microsoft.com/office/drawing/2014/main" id="{A60EC4FB-3501-4799-8B01-A7E0812450C2}"/>
              </a:ext>
            </a:extLst>
          </p:cNvPr>
          <p:cNvSpPr>
            <a:spLocks noGrp="1"/>
          </p:cNvSpPr>
          <p:nvPr/>
        </p:nvSpPr>
        <p:spPr>
          <a:xfrm>
            <a:off x="990600" y="9633645"/>
            <a:ext cx="247650" cy="38100"/>
          </a:xfrm>
          <a:prstGeom prst="rect">
            <a:avLst/>
          </a:prstGeom>
          <a:solidFill>
            <a:srgbClr val="FF7E08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2">
            <a:extLst>
              <a:ext uri="{FF2B5EF4-FFF2-40B4-BE49-F238E27FC236}">
                <a16:creationId xmlns:a16="http://schemas.microsoft.com/office/drawing/2014/main" id="{744C4F78-1715-4483-945F-39F587105B97}"/>
              </a:ext>
            </a:extLst>
          </p:cNvPr>
          <p:cNvSpPr>
            <a:spLocks noGrp="1"/>
          </p:cNvSpPr>
          <p:nvPr/>
        </p:nvSpPr>
        <p:spPr>
          <a:xfrm>
            <a:off x="1352550" y="9475589"/>
            <a:ext cx="3349526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2373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S11 · Asincronía y Node.js · sofka_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5" name="Google Shape;415;p22">
            <a:extLst>
              <a:ext uri="{FF2B5EF4-FFF2-40B4-BE49-F238E27FC236}">
                <a16:creationId xmlns:a16="http://schemas.microsoft.com/office/drawing/2014/main" id="{7646C856-AF35-4F37-A01E-57028290B27C}"/>
              </a:ext>
            </a:extLst>
          </p:cNvPr>
          <p:cNvSpPr>
            <a:spLocks noGrp="1"/>
          </p:cNvSpPr>
          <p:nvPr/>
        </p:nvSpPr>
        <p:spPr>
          <a:xfrm>
            <a:off x="17043053" y="9475589"/>
            <a:ext cx="330547" cy="392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>
            <a:normAutofit fontScale="93705"/>
          </a:bodyPr>
          <a:lstStyle/>
          <a:p>
            <a:pPr marL="0" marR="0" lvl="0" indent="0" algn="l">
              <a:lnSpc>
                <a:spcPct val="132857"/>
              </a:lnSpc>
              <a:spcBef>
                <a:spcPts val="0"/>
              </a:spcBef>
              <a:spcAft>
                <a:spcPts val="0"/>
              </a:spcAft>
              <a:buClr>
                <a:srgbClr val="685F52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685F52"/>
                </a:solidFill>
                <a:latin typeface="Arial"/>
                <a:ea typeface="Arial"/>
                <a:cs typeface="Arial"/>
              </a:rPr>
              <a:t>12</a:t>
            </a:r>
            <a:endParaRPr sz="1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8388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1630</Words>
  <Application>Microsoft Office PowerPoint</Application>
  <DocSecurity>0</DocSecurity>
  <PresentationFormat>Personalizado</PresentationFormat>
  <Paragraphs>237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brayan gamepass</cp:lastModifiedBy>
  <cp:revision>3</cp:revision>
  <dcterms:created xsi:type="dcterms:W3CDTF">2026-08-22T00:45:28Z</dcterms:created>
  <dcterms:modified xsi:type="dcterms:W3CDTF">2026-08-22T20:47:11Z</dcterms:modified>
</cp:coreProperties>
</file>